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1830050" cy="15811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830050" cy="1581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1830050" cy="15811500"/>
          </a:xfrm>
          <a:prstGeom prst="rect">
            <a:avLst/>
          </a:prstGeom>
          <a:gradFill>
            <a:gsLst>
              <a:gs pos="0">
                <a:srgbClr val="D4A574">
                  <a:alpha val="12000"/>
                </a:srgbClr>
              </a:gs>
              <a:gs pos="100000">
                <a:srgbClr val="D4A57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1830050" cy="15811500"/>
          </a:xfrm>
          <a:prstGeom prst="rect">
            <a:avLst/>
          </a:prstGeom>
          <a:gradFill>
            <a:gsLst>
              <a:gs pos="0">
                <a:srgbClr val="60A5FA">
                  <a:alpha val="8000"/>
                </a:srgbClr>
              </a:gs>
              <a:gs pos="100000">
                <a:srgbClr val="60A5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11830050" cy="15811500"/>
          </a:xfrm>
          <a:prstGeom prst="rect">
            <a:avLst/>
          </a:prstGeom>
          <a:gradFill>
            <a:gsLst>
              <a:gs pos="0">
                <a:srgbClr val="34D399">
                  <a:alpha val="5000"/>
                </a:srgbClr>
              </a:gs>
              <a:gs pos="100000">
                <a:srgbClr val="34D39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Line 6"/>
          <p:cNvSpPr/>
          <p:nvPr/>
        </p:nvSpPr>
        <p:spPr>
          <a:xfrm>
            <a:off x="1905000" y="0"/>
            <a:ext cx="9525" cy="15811500"/>
          </a:xfrm>
          <a:custGeom>
            <a:avLst/>
            <a:gdLst/>
            <a:ahLst/>
            <a:cxnLst/>
            <a:rect l="l" t="t" r="r" b="b"/>
            <a:pathLst>
              <a:path w="9525" h="15811500">
                <a:moveTo>
                  <a:pt x="0" y="0"/>
                </a:moveTo>
                <a:lnTo>
                  <a:pt x="0" y="15811500"/>
                </a:lnTo>
              </a:path>
            </a:pathLst>
          </a:custGeom>
          <a:noFill/>
          <a:ln w="4762">
            <a:solidFill>
              <a:srgbClr val="30363D">
                <a:alpha val="25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5915025" y="0"/>
            <a:ext cx="9525" cy="15811500"/>
          </a:xfrm>
          <a:custGeom>
            <a:avLst/>
            <a:gdLst/>
            <a:ahLst/>
            <a:cxnLst/>
            <a:rect l="l" t="t" r="r" b="b"/>
            <a:pathLst>
              <a:path w="9525" h="15811500">
                <a:moveTo>
                  <a:pt x="0" y="0"/>
                </a:moveTo>
                <a:lnTo>
                  <a:pt x="0" y="15811500"/>
                </a:lnTo>
              </a:path>
            </a:pathLst>
          </a:custGeom>
          <a:noFill/>
          <a:ln w="4762">
            <a:solidFill>
              <a:srgbClr val="30363D">
                <a:alpha val="25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9925050" y="0"/>
            <a:ext cx="9525" cy="15811500"/>
          </a:xfrm>
          <a:custGeom>
            <a:avLst/>
            <a:gdLst/>
            <a:ahLst/>
            <a:cxnLst/>
            <a:rect l="l" t="t" r="r" b="b"/>
            <a:pathLst>
              <a:path w="9525" h="15811500">
                <a:moveTo>
                  <a:pt x="0" y="0"/>
                </a:moveTo>
                <a:lnTo>
                  <a:pt x="0" y="15811500"/>
                </a:lnTo>
              </a:path>
            </a:pathLst>
          </a:custGeom>
          <a:noFill/>
          <a:ln w="4762">
            <a:solidFill>
              <a:srgbClr val="30363D">
                <a:alpha val="25000"/>
              </a:srgbClr>
            </a:solidFill>
          </a:ln>
        </p:spPr>
      </p:sp>
      <p:sp>
        <p:nvSpPr>
          <p:cNvPr id="9" name="Line 9"/>
          <p:cNvSpPr/>
          <p:nvPr/>
        </p:nvSpPr>
        <p:spPr>
          <a:xfrm>
            <a:off x="0" y="3810000"/>
            <a:ext cx="11830050" cy="9525"/>
          </a:xfrm>
          <a:custGeom>
            <a:avLst/>
            <a:gdLst/>
            <a:ahLst/>
            <a:cxnLst/>
            <a:rect l="l" t="t" r="r" b="b"/>
            <a:pathLst>
              <a:path w="11830050" h="9525">
                <a:moveTo>
                  <a:pt x="0" y="0"/>
                </a:moveTo>
                <a:lnTo>
                  <a:pt x="11830050" y="0"/>
                </a:lnTo>
              </a:path>
            </a:pathLst>
          </a:custGeom>
          <a:noFill/>
          <a:ln w="4762">
            <a:solidFill>
              <a:srgbClr val="30363D">
                <a:alpha val="25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0" y="7620000"/>
            <a:ext cx="11830050" cy="9525"/>
          </a:xfrm>
          <a:custGeom>
            <a:avLst/>
            <a:gdLst/>
            <a:ahLst/>
            <a:cxnLst/>
            <a:rect l="l" t="t" r="r" b="b"/>
            <a:pathLst>
              <a:path w="11830050" h="9525">
                <a:moveTo>
                  <a:pt x="0" y="0"/>
                </a:moveTo>
                <a:lnTo>
                  <a:pt x="11830050" y="0"/>
                </a:lnTo>
              </a:path>
            </a:pathLst>
          </a:custGeom>
          <a:noFill/>
          <a:ln w="4762">
            <a:solidFill>
              <a:srgbClr val="30363D">
                <a:alpha val="25000"/>
              </a:srgbClr>
            </a:solidFill>
          </a:ln>
        </p:spPr>
      </p:sp>
      <p:sp>
        <p:nvSpPr>
          <p:cNvPr id="11" name="Line 11"/>
          <p:cNvSpPr/>
          <p:nvPr/>
        </p:nvSpPr>
        <p:spPr>
          <a:xfrm>
            <a:off x="0" y="11430000"/>
            <a:ext cx="11830050" cy="9525"/>
          </a:xfrm>
          <a:custGeom>
            <a:avLst/>
            <a:gdLst/>
            <a:ahLst/>
            <a:cxnLst/>
            <a:rect l="l" t="t" r="r" b="b"/>
            <a:pathLst>
              <a:path w="11830050" h="9525">
                <a:moveTo>
                  <a:pt x="0" y="0"/>
                </a:moveTo>
                <a:lnTo>
                  <a:pt x="11830050" y="0"/>
                </a:lnTo>
              </a:path>
            </a:pathLst>
          </a:custGeom>
          <a:noFill/>
          <a:ln w="4762">
            <a:solidFill>
              <a:srgbClr val="30363D">
                <a:alpha val="25000"/>
              </a:srgbClr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52500" y="1143000"/>
            <a:ext cx="1524000" cy="1524000"/>
          </a:xfrm>
          <a:prstGeom prst="ellipse">
            <a:avLst/>
          </a:prstGeom>
          <a:noFill/>
          <a:ln w="9525">
            <a:solidFill>
              <a:srgbClr val="D4A574">
                <a:alpha val="15000"/>
              </a:srgbClr>
            </a:solidFill>
          </a:ln>
        </p:spPr>
      </p:sp>
      <p:sp>
        <p:nvSpPr>
          <p:cNvPr id="13" name="Ellipse 13"/>
          <p:cNvSpPr/>
          <p:nvPr/>
        </p:nvSpPr>
        <p:spPr>
          <a:xfrm>
            <a:off x="1238250" y="1428750"/>
            <a:ext cx="952500" cy="952500"/>
          </a:xfrm>
          <a:prstGeom prst="ellipse">
            <a:avLst/>
          </a:prstGeom>
          <a:noFill/>
          <a:ln w="4762">
            <a:solidFill>
              <a:srgbClr val="D4A574">
                <a:alpha val="10000"/>
              </a:srgbClr>
            </a:solidFill>
          </a:ln>
        </p:spPr>
      </p:sp>
      <p:sp>
        <p:nvSpPr>
          <p:cNvPr id="14" name="Ellipse 14"/>
          <p:cNvSpPr/>
          <p:nvPr/>
        </p:nvSpPr>
        <p:spPr>
          <a:xfrm>
            <a:off x="9144000" y="12382500"/>
            <a:ext cx="1905000" cy="1905000"/>
          </a:xfrm>
          <a:prstGeom prst="ellipse">
            <a:avLst/>
          </a:prstGeom>
          <a:noFill/>
          <a:ln w="9525">
            <a:solidFill>
              <a:srgbClr val="60A5FA">
                <a:alpha val="12000"/>
              </a:srgbClr>
            </a:solidFill>
          </a:ln>
        </p:spPr>
      </p:sp>
      <p:sp>
        <p:nvSpPr>
          <p:cNvPr id="15" name="Ellipse 15"/>
          <p:cNvSpPr/>
          <p:nvPr/>
        </p:nvSpPr>
        <p:spPr>
          <a:xfrm>
            <a:off x="9477375" y="12715875"/>
            <a:ext cx="1238250" cy="1238250"/>
          </a:xfrm>
          <a:prstGeom prst="ellipse">
            <a:avLst/>
          </a:prstGeom>
          <a:noFill/>
          <a:ln w="4762">
            <a:solidFill>
              <a:srgbClr val="60A5FA">
                <a:alpha val="8000"/>
              </a:srgbClr>
            </a:solidFill>
          </a:ln>
        </p:spPr>
      </p:sp>
      <p:sp>
        <p:nvSpPr>
          <p:cNvPr id="16" name="Ellipse 16"/>
          <p:cNvSpPr/>
          <p:nvPr/>
        </p:nvSpPr>
        <p:spPr>
          <a:xfrm>
            <a:off x="2381250" y="13811250"/>
            <a:ext cx="952500" cy="952500"/>
          </a:xfrm>
          <a:prstGeom prst="ellipse">
            <a:avLst/>
          </a:prstGeom>
          <a:noFill/>
          <a:ln w="7620">
            <a:solidFill>
              <a:srgbClr val="34D399">
                <a:alpha val="10000"/>
              </a:srgbClr>
            </a:solidFill>
          </a:ln>
        </p:spPr>
      </p:sp>
      <p:sp>
        <p:nvSpPr>
          <p:cNvPr id="17" name="Ellipse 17"/>
          <p:cNvSpPr/>
          <p:nvPr/>
        </p:nvSpPr>
        <p:spPr>
          <a:xfrm>
            <a:off x="3295650" y="1676400"/>
            <a:ext cx="76200" cy="76200"/>
          </a:xfrm>
          <a:prstGeom prst="ellipse">
            <a:avLst/>
          </a:prstGeom>
          <a:solidFill>
            <a:srgbClr val="D4A574">
              <a:alpha val="30000"/>
            </a:srgbClr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9496425" y="2352675"/>
            <a:ext cx="57150" cy="57150"/>
          </a:xfrm>
          <a:prstGeom prst="ellipse">
            <a:avLst/>
          </a:prstGeom>
          <a:solidFill>
            <a:srgbClr val="60A5FA">
              <a:alpha val="25000"/>
            </a:srgbClr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10925175" y="3305175"/>
            <a:ext cx="57150" cy="57150"/>
          </a:xfrm>
          <a:prstGeom prst="ellipse">
            <a:avLst/>
          </a:prstGeom>
          <a:solidFill>
            <a:srgbClr val="34D399">
              <a:alpha val="20000"/>
            </a:srgbClr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1400175" y="10448925"/>
            <a:ext cx="57150" cy="57150"/>
          </a:xfrm>
          <a:prstGeom prst="ellipse">
            <a:avLst/>
          </a:prstGeom>
          <a:solidFill>
            <a:srgbClr val="60A5FA">
              <a:alpha val="20000"/>
            </a:srgbClr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4724400" y="14725650"/>
            <a:ext cx="76200" cy="76200"/>
          </a:xfrm>
          <a:prstGeom prst="ellipse">
            <a:avLst/>
          </a:prstGeom>
          <a:solidFill>
            <a:srgbClr val="D4A574">
              <a:alpha val="15000"/>
            </a:srgbClr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0" y="0"/>
            <a:ext cx="11830050" cy="28575"/>
          </a:xfrm>
          <a:prstGeom prst="rect">
            <a:avLst/>
          </a:prstGeom>
          <a:gradFill>
            <a:gsLst>
              <a:gs pos="0">
                <a:srgbClr val="D4A574">
                  <a:alpha val="70000"/>
                </a:srgbClr>
              </a:gs>
              <a:gs pos="100000">
                <a:srgbClr val="60A5FA">
                  <a:alpha val="7000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5438775" y="7143750"/>
            <a:ext cx="762000" cy="762000"/>
            <a:chOff x="5438775" y="7143750"/>
            <a:chExt cx="762000" cy="762000"/>
          </a:xfrm>
        </p:grpSpPr>
        <p:sp>
          <p:nvSpPr>
            <p:cNvPr id="23" name="Freeform 23"/>
            <p:cNvSpPr/>
            <p:nvPr/>
          </p:nvSpPr>
          <p:spPr>
            <a:xfrm>
              <a:off x="5438775" y="71437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170579" y="0"/>
                    <a:pt x="0" y="170579"/>
                    <a:pt x="0" y="381000"/>
                  </a:cubicBezTo>
                  <a:cubicBezTo>
                    <a:pt x="0" y="591422"/>
                    <a:pt x="170579" y="762000"/>
                    <a:pt x="381000" y="762000"/>
                  </a:cubicBezTo>
                  <a:cubicBezTo>
                    <a:pt x="591422" y="762000"/>
                    <a:pt x="762000" y="591422"/>
                    <a:pt x="762000" y="381000"/>
                  </a:cubicBezTo>
                  <a:cubicBezTo>
                    <a:pt x="762000" y="170579"/>
                    <a:pt x="591422" y="0"/>
                    <a:pt x="381000" y="0"/>
                  </a:cubicBezTo>
                  <a:close/>
                  <a:moveTo>
                    <a:pt x="381000" y="666750"/>
                  </a:moveTo>
                  <a:cubicBezTo>
                    <a:pt x="223185" y="666750"/>
                    <a:pt x="95250" y="538815"/>
                    <a:pt x="95250" y="381000"/>
                  </a:cubicBezTo>
                  <a:cubicBezTo>
                    <a:pt x="95250" y="223185"/>
                    <a:pt x="223185" y="95250"/>
                    <a:pt x="381000" y="95250"/>
                  </a:cubicBezTo>
                  <a:cubicBezTo>
                    <a:pt x="538815" y="95250"/>
                    <a:pt x="666750" y="223185"/>
                    <a:pt x="666750" y="381000"/>
                  </a:cubicBezTo>
                  <a:cubicBezTo>
                    <a:pt x="666750" y="538815"/>
                    <a:pt x="538815" y="666750"/>
                    <a:pt x="381000" y="666750"/>
                  </a:cubicBez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5772150" y="7334250"/>
              <a:ext cx="238125" cy="238125"/>
            </a:xfrm>
            <a:custGeom>
              <a:avLst/>
              <a:gdLst/>
              <a:ahLst/>
              <a:cxnLst/>
              <a:rect l="l" t="t" r="r" b="b"/>
              <a:pathLst>
                <a:path w="238125" h="238125">
                  <a:moveTo>
                    <a:pt x="95250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238125" y="238125"/>
                  </a:lnTo>
                  <a:lnTo>
                    <a:pt x="238125" y="142875"/>
                  </a:lnTo>
                  <a:lnTo>
                    <a:pt x="95250" y="142875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3696557" y="7639050"/>
            <a:ext cx="4436936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6000" b="1" dirty="0">
                <a:solidFill>
                  <a:srgbClr val="E6EDF3"/>
                </a:solidFill>
                <a:effectLst>
                  <a:glow rad="95250">
                    <a:srgbClr val="D4A574">
                      <a:alpha val="35000"/>
                    </a:srgbClr>
                  </a:glow>
                </a:effectLst>
                <a:latin typeface="Arial"/>
                <a:ea typeface="Arial"/>
                <a:cs typeface="Arial"/>
              </a:rPr>
              <a:t>TIMEQUEST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286375" y="8710612"/>
            <a:ext cx="12573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dirty="0">
                <a:solidFill>
                  <a:srgbClr val="D4A574"/>
                </a:solidFill>
                <a:latin typeface="Arial"/>
                <a:ea typeface="Microsoft YaHei"/>
                <a:cs typeface="Arial"/>
              </a:rPr>
              <a:t>时间负债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200525" y="9334500"/>
            <a:ext cx="342900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895850" y="9648825"/>
            <a:ext cx="20383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你的时间资产管理工具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963668" y="10014585"/>
            <a:ext cx="19027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YOUR TIME DEBT MANAGER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62000" y="11239500"/>
            <a:ext cx="10306050" cy="1143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62000" y="11239500"/>
            <a:ext cx="10306050" cy="28575"/>
          </a:xfrm>
          <a:prstGeom prst="rect">
            <a:avLst/>
          </a:prstGeom>
          <a:gradFill>
            <a:gsLst>
              <a:gs pos="0">
                <a:srgbClr val="D4A574">
                  <a:alpha val="50000"/>
                </a:srgbClr>
              </a:gs>
              <a:gs pos="100000">
                <a:srgbClr val="60A5FA">
                  <a:alpha val="5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231487" y="11537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6EDF3"/>
                </a:solidFill>
                <a:latin typeface="Arial"/>
                <a:ea typeface="Microsoft YaHei"/>
                <a:cs typeface="Arial"/>
              </a:rPr>
              <a:t>实时计时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75624" y="11888152"/>
            <a:ext cx="6777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Real-time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517487" y="11537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6EDF3"/>
                </a:solidFill>
                <a:latin typeface="Arial"/>
                <a:ea typeface="Microsoft YaHei"/>
                <a:cs typeface="Arial"/>
              </a:rPr>
              <a:t>活动分类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619619" y="118881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Categories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803487" y="11537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6EDF3"/>
                </a:solidFill>
                <a:latin typeface="Arial"/>
                <a:ea typeface="Microsoft YaHei"/>
                <a:cs typeface="Arial"/>
              </a:rPr>
              <a:t>负债分析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961626" y="11888152"/>
            <a:ext cx="6497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089487" y="11537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6EDF3"/>
                </a:solidFill>
                <a:latin typeface="Arial"/>
                <a:ea typeface="Microsoft YaHei"/>
                <a:cs typeface="Arial"/>
              </a:rPr>
              <a:t>数据持久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093607" y="11888152"/>
            <a:ext cx="9577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Local Storage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606516" y="11537632"/>
            <a:ext cx="5039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D4A574"/>
                </a:solidFill>
                <a:latin typeface="Arial"/>
                <a:ea typeface="Microsoft YaHei"/>
                <a:cs typeface="Arial"/>
              </a:rPr>
              <a:t>开源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460117" y="118881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MIT License</a:t>
            </a:r>
          </a:p>
        </p:txBody>
      </p:sp>
      <p:sp>
        <p:nvSpPr>
          <p:cNvPr id="43" name="Line 43"/>
          <p:cNvSpPr/>
          <p:nvPr/>
        </p:nvSpPr>
        <p:spPr>
          <a:xfrm>
            <a:off x="2667000" y="11382375"/>
            <a:ext cx="9525" cy="857250"/>
          </a:xfrm>
          <a:custGeom>
            <a:avLst/>
            <a:gdLst/>
            <a:ahLst/>
            <a:cxnLst/>
            <a:rect l="l" t="t" r="r" b="b"/>
            <a:pathLst>
              <a:path w="9525"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noFill/>
          <a:ln w="4762">
            <a:solidFill>
              <a:srgbClr val="30363D"/>
            </a:solidFill>
          </a:ln>
        </p:spPr>
      </p:sp>
      <p:sp>
        <p:nvSpPr>
          <p:cNvPr id="44" name="Line 44"/>
          <p:cNvSpPr/>
          <p:nvPr/>
        </p:nvSpPr>
        <p:spPr>
          <a:xfrm>
            <a:off x="5143500" y="11382375"/>
            <a:ext cx="9525" cy="857250"/>
          </a:xfrm>
          <a:custGeom>
            <a:avLst/>
            <a:gdLst/>
            <a:ahLst/>
            <a:cxnLst/>
            <a:rect l="l" t="t" r="r" b="b"/>
            <a:pathLst>
              <a:path w="9525"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noFill/>
          <a:ln w="4762">
            <a:solidFill>
              <a:srgbClr val="30363D"/>
            </a:solidFill>
          </a:ln>
        </p:spPr>
      </p:sp>
      <p:sp>
        <p:nvSpPr>
          <p:cNvPr id="45" name="Line 45"/>
          <p:cNvSpPr/>
          <p:nvPr/>
        </p:nvSpPr>
        <p:spPr>
          <a:xfrm>
            <a:off x="7620000" y="11382375"/>
            <a:ext cx="9525" cy="857250"/>
          </a:xfrm>
          <a:custGeom>
            <a:avLst/>
            <a:gdLst/>
            <a:ahLst/>
            <a:cxnLst/>
            <a:rect l="l" t="t" r="r" b="b"/>
            <a:pathLst>
              <a:path w="9525"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noFill/>
          <a:ln w="4762">
            <a:solidFill>
              <a:srgbClr val="30363D"/>
            </a:solidFill>
          </a:ln>
        </p:spPr>
      </p:sp>
      <p:sp>
        <p:nvSpPr>
          <p:cNvPr id="46" name="Line 46"/>
          <p:cNvSpPr/>
          <p:nvPr/>
        </p:nvSpPr>
        <p:spPr>
          <a:xfrm>
            <a:off x="10096500" y="11382375"/>
            <a:ext cx="9525" cy="857250"/>
          </a:xfrm>
          <a:custGeom>
            <a:avLst/>
            <a:gdLst/>
            <a:ahLst/>
            <a:cxnLst/>
            <a:rect l="l" t="t" r="r" b="b"/>
            <a:pathLst>
              <a:path w="9525"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noFill/>
          <a:ln w="4762">
            <a:solidFill>
              <a:srgbClr val="30363D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0" y="15621000"/>
            <a:ext cx="11830050" cy="1905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3057525" y="15621000"/>
            <a:ext cx="5715000" cy="28575"/>
          </a:xfrm>
          <a:prstGeom prst="rect">
            <a:avLst/>
          </a:prstGeom>
          <a:gradFill>
            <a:gsLst>
              <a:gs pos="0">
                <a:srgbClr val="D4A574">
                  <a:alpha val="50000"/>
                </a:srgbClr>
              </a:gs>
              <a:gs pos="100000">
                <a:srgbClr val="60A5FA">
                  <a:alpha val="5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10757106" y="15412402"/>
            <a:ext cx="495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01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830050" cy="1581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1830050" cy="15811500"/>
          </a:xfrm>
          <a:prstGeom prst="rect">
            <a:avLst/>
          </a:prstGeom>
          <a:gradFill>
            <a:gsLst>
              <a:gs pos="0">
                <a:srgbClr val="D4A574">
                  <a:alpha val="6000"/>
                </a:srgbClr>
              </a:gs>
              <a:gs pos="100000">
                <a:srgbClr val="D4A57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1830050" cy="28575"/>
          </a:xfrm>
          <a:prstGeom prst="rect">
            <a:avLst/>
          </a:prstGeom>
          <a:gradFill>
            <a:gsLst>
              <a:gs pos="0">
                <a:srgbClr val="D4A574">
                  <a:alpha val="70000"/>
                </a:srgbClr>
              </a:gs>
              <a:gs pos="100000">
                <a:srgbClr val="60A5FA">
                  <a:alpha val="7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39165" y="648652"/>
            <a:ext cx="13498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P · 02 · PAIN POINTS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6780" y="1135380"/>
            <a:ext cx="21076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E6EDF3"/>
                </a:solidFill>
                <a:latin typeface="Arial"/>
                <a:ea typeface="Microsoft YaHei"/>
                <a:cs typeface="Arial"/>
              </a:rPr>
              <a:t>用户痛点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5355" y="1854518"/>
            <a:ext cx="37427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B949E"/>
                </a:solidFill>
                <a:latin typeface="Arial"/>
                <a:ea typeface="Arial"/>
                <a:cs typeface="Arial"/>
              </a:rPr>
              <a:t>WHAT USERS SUFFER FROM TIME MANAGEMENT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2238375"/>
            <a:ext cx="762000" cy="19050"/>
          </a:xfrm>
          <a:prstGeom prst="rect">
            <a:avLst/>
          </a:prstGeom>
          <a:gradFill>
            <a:gsLst>
              <a:gs pos="0">
                <a:srgbClr val="D4A574"/>
              </a:gs>
              <a:gs pos="100000">
                <a:srgbClr val="60A5FA"/>
              </a:gs>
            </a:gsLst>
            <a:lin ang="0" scaled="1"/>
          </a:gra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562100"/>
            <a:ext cx="1228916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0" b="1" dirty="0">
                <a:solidFill>
                  <a:srgbClr val="161B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52500" y="3429000"/>
            <a:ext cx="9925050" cy="161925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952500" y="3429000"/>
            <a:ext cx="38100" cy="1619250"/>
          </a:xfrm>
          <a:prstGeom prst="rect">
            <a:avLst/>
          </a:prstGeom>
          <a:solidFill>
            <a:srgbClr val="D4A574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295400" y="3533775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D4A57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59330" y="3583305"/>
            <a:ext cx="211159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E6EDF3"/>
                </a:solidFill>
                <a:latin typeface="Arial"/>
                <a:ea typeface="Microsoft YaHei"/>
                <a:cs typeface="Arial"/>
              </a:rPr>
              <a:t>时间浪费不自知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70760" y="4013835"/>
            <a:ext cx="19347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8B949E"/>
                </a:solidFill>
                <a:latin typeface="Arial"/>
                <a:ea typeface="Arial"/>
                <a:cs typeface="Arial"/>
              </a:rPr>
              <a:t>UNAWARE OF TIME WASTED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66950" y="4362450"/>
            <a:ext cx="480869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凭感觉估算，实际偏差可达 ±40% — 自我认知严重失真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52500" y="5334000"/>
            <a:ext cx="9925050" cy="161925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952500" y="5334000"/>
            <a:ext cx="38100" cy="1619250"/>
          </a:xfrm>
          <a:prstGeom prst="rect">
            <a:avLst/>
          </a:prstGeom>
          <a:solidFill>
            <a:srgbClr val="D4A574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295400" y="5438775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D4A57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59330" y="5488305"/>
            <a:ext cx="211159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E6EDF3"/>
                </a:solidFill>
                <a:latin typeface="Arial"/>
                <a:ea typeface="Microsoft YaHei"/>
                <a:cs typeface="Arial"/>
              </a:rPr>
              <a:t>记录操作太繁琐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70760" y="5918835"/>
            <a:ext cx="22947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8B949E"/>
                </a:solidFill>
                <a:latin typeface="Arial"/>
                <a:ea typeface="Arial"/>
                <a:cs typeface="Arial"/>
              </a:rPr>
              <a:t>TRACKING IS TOO COMPLICATED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66950" y="6267450"/>
            <a:ext cx="509873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飞书记录需 6 步操作 — 繁琐流程让时间管理本身变成负担</a:t>
            </a:r>
          </a:p>
        </p:txBody>
      </p:sp>
      <p:sp>
        <p:nvSpPr>
          <p:cNvPr id="22" name="Rectangle 22"/>
          <p:cNvSpPr/>
          <p:nvPr/>
        </p:nvSpPr>
        <p:spPr>
          <a:xfrm>
            <a:off x="952500" y="7239000"/>
            <a:ext cx="9925050" cy="161925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952500" y="7239000"/>
            <a:ext cx="38100" cy="1619250"/>
          </a:xfrm>
          <a:prstGeom prst="rect">
            <a:avLst/>
          </a:prstGeom>
          <a:solidFill>
            <a:srgbClr val="60A5F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295400" y="7343775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60A5F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59330" y="7393305"/>
            <a:ext cx="240563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E6EDF3"/>
                </a:solidFill>
                <a:latin typeface="Arial"/>
                <a:ea typeface="Microsoft YaHei"/>
                <a:cs typeface="Arial"/>
              </a:rPr>
              <a:t>不知道时间花在哪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270760" y="7823835"/>
            <a:ext cx="19427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8B949E"/>
                </a:solidFill>
                <a:latin typeface="Arial"/>
                <a:ea typeface="Arial"/>
                <a:cs typeface="Arial"/>
              </a:rPr>
              <a:t>NO IDEA WHERE TIME GOES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266950" y="8172450"/>
            <a:ext cx="566880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没有分类统计，无法看到时间分布 — 工作、学习、娱乐混在一起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52500" y="9144000"/>
            <a:ext cx="9925050" cy="161925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952500" y="9144000"/>
            <a:ext cx="38100" cy="161925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295400" y="9248775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F9731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259330" y="9298305"/>
            <a:ext cx="240563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E6EDF3"/>
                </a:solidFill>
                <a:latin typeface="Arial"/>
                <a:ea typeface="Microsoft YaHei"/>
                <a:cs typeface="Arial"/>
              </a:rPr>
              <a:t>不知道债务怎么还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270760" y="9728835"/>
            <a:ext cx="23427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8B949E"/>
                </a:solidFill>
                <a:latin typeface="Arial"/>
                <a:ea typeface="Arial"/>
                <a:cs typeface="Arial"/>
              </a:rPr>
              <a:t>NO WAY TO PAY BACK TIME DEBT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266950" y="10077450"/>
            <a:ext cx="50687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知道有问题但不知道怎么优化 — 缺少量化分析和改进建议</a:t>
            </a:r>
          </a:p>
        </p:txBody>
      </p:sp>
      <p:sp>
        <p:nvSpPr>
          <p:cNvPr id="34" name="Rectangle 34"/>
          <p:cNvSpPr/>
          <p:nvPr/>
        </p:nvSpPr>
        <p:spPr>
          <a:xfrm>
            <a:off x="952500" y="11430000"/>
            <a:ext cx="9925050" cy="952500"/>
          </a:xfrm>
          <a:prstGeom prst="rect">
            <a:avLst/>
          </a:prstGeom>
          <a:solidFill>
            <a:srgbClr val="1C2333"/>
          </a:solidFill>
          <a:ln w="9525">
            <a:solidFill>
              <a:srgbClr val="30363D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952500" y="11430000"/>
            <a:ext cx="9925050" cy="28575"/>
          </a:xfrm>
          <a:prstGeom prst="rect">
            <a:avLst/>
          </a:prstGeom>
          <a:gradFill>
            <a:gsLst>
              <a:gs pos="0">
                <a:srgbClr val="D4A574">
                  <a:alpha val="60000"/>
                </a:srgbClr>
              </a:gs>
              <a:gs pos="100000">
                <a:srgbClr val="60A5FA">
                  <a:alpha val="6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503045" y="11728132"/>
            <a:ext cx="221358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6EDF3"/>
                </a:solidFill>
                <a:latin typeface="Arial"/>
                <a:ea typeface="Microsoft YaHei"/>
                <a:cs typeface="Arial"/>
              </a:rPr>
              <a:t>TimeQuest 解决方案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506855" y="12093892"/>
            <a:ext cx="464286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一键计时 → 自动分类 → 可视化统计 → 负债分析 → 持续优化</a:t>
            </a:r>
          </a:p>
        </p:txBody>
      </p:sp>
      <p:sp>
        <p:nvSpPr>
          <p:cNvPr id="38" name="Rectangle 38"/>
          <p:cNvSpPr/>
          <p:nvPr/>
        </p:nvSpPr>
        <p:spPr>
          <a:xfrm>
            <a:off x="0" y="15621000"/>
            <a:ext cx="11830050" cy="1905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0757106" y="15412402"/>
            <a:ext cx="495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02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830050" cy="1581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1830050" cy="28575"/>
          </a:xfrm>
          <a:prstGeom prst="rect">
            <a:avLst/>
          </a:prstGeom>
          <a:gradFill>
            <a:gsLst>
              <a:gs pos="0">
                <a:srgbClr val="D4A574">
                  <a:alpha val="70000"/>
                </a:srgbClr>
              </a:gs>
              <a:gs pos="100000">
                <a:srgbClr val="60A5FA">
                  <a:alpha val="7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39165" y="648652"/>
            <a:ext cx="11958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P · 03 · FEATURES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6780" y="1135380"/>
            <a:ext cx="21076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E6EDF3"/>
                </a:solidFill>
                <a:latin typeface="Arial"/>
                <a:ea typeface="Microsoft YaHei"/>
                <a:cs typeface="Arial"/>
              </a:rPr>
              <a:t>核心功能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5355" y="1854518"/>
            <a:ext cx="29776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B949E"/>
                </a:solidFill>
                <a:latin typeface="Arial"/>
                <a:ea typeface="Arial"/>
                <a:cs typeface="Arial"/>
              </a:rPr>
              <a:t>FIVE CORE FEATURES OF TIMEQUEST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" y="2238375"/>
            <a:ext cx="762000" cy="19050"/>
          </a:xfrm>
          <a:prstGeom prst="rect">
            <a:avLst/>
          </a:prstGeom>
          <a:gradFill>
            <a:gsLst>
              <a:gs pos="0">
                <a:srgbClr val="D4A574"/>
              </a:gs>
              <a:gs pos="100000">
                <a:srgbClr val="60A5FA"/>
              </a:gs>
            </a:gsLst>
            <a:lin ang="0" scaled="1"/>
          </a:gra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2857500"/>
            <a:ext cx="3238500" cy="32385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2857500"/>
            <a:ext cx="3238500" cy="28575"/>
          </a:xfrm>
          <a:prstGeom prst="rect">
            <a:avLst/>
          </a:prstGeom>
          <a:solidFill>
            <a:srgbClr val="D4A574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2038350" y="3371850"/>
            <a:ext cx="685800" cy="685800"/>
          </a:xfrm>
          <a:prstGeom prst="ellipse">
            <a:avLst/>
          </a:prstGeom>
          <a:noFill/>
          <a:ln w="14288">
            <a:solidFill>
              <a:srgbClr val="D4A574"/>
            </a:solidFill>
          </a:ln>
        </p:spPr>
      </p:sp>
      <p:sp>
        <p:nvSpPr>
          <p:cNvPr id="11" name="Line 11"/>
          <p:cNvSpPr/>
          <p:nvPr/>
        </p:nvSpPr>
        <p:spPr>
          <a:xfrm>
            <a:off x="2381250" y="3467100"/>
            <a:ext cx="9525" cy="247650"/>
          </a:xfrm>
          <a:custGeom>
            <a:avLst/>
            <a:gdLst/>
            <a:ahLst/>
            <a:cxnLst/>
            <a:rect l="l" t="t" r="r" b="b"/>
            <a:pathLst>
              <a:path w="9525" h="247650">
                <a:moveTo>
                  <a:pt x="0" y="247650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D4A574"/>
            </a:solidFill>
          </a:ln>
        </p:spPr>
      </p:sp>
      <p:sp>
        <p:nvSpPr>
          <p:cNvPr id="12" name="Line 12"/>
          <p:cNvSpPr/>
          <p:nvPr/>
        </p:nvSpPr>
        <p:spPr>
          <a:xfrm>
            <a:off x="2381250" y="3714750"/>
            <a:ext cx="152400" cy="76200"/>
          </a:xfrm>
          <a:custGeom>
            <a:avLst/>
            <a:gdLst/>
            <a:ahLst/>
            <a:cxnLst/>
            <a:rect l="l" t="t" r="r" b="b"/>
            <a:pathLst>
              <a:path w="152400" h="76200">
                <a:moveTo>
                  <a:pt x="0" y="0"/>
                </a:moveTo>
                <a:lnTo>
                  <a:pt x="152400" y="76200"/>
                </a:lnTo>
              </a:path>
            </a:pathLst>
          </a:custGeom>
          <a:noFill/>
          <a:ln w="14288">
            <a:solidFill>
              <a:srgbClr val="D4A574"/>
            </a:solidFill>
          </a:ln>
        </p:spPr>
      </p:sp>
      <p:sp>
        <p:nvSpPr>
          <p:cNvPr id="13" name="Ellipse 13"/>
          <p:cNvSpPr/>
          <p:nvPr/>
        </p:nvSpPr>
        <p:spPr>
          <a:xfrm>
            <a:off x="2343150" y="3676650"/>
            <a:ext cx="76200" cy="7620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766506" y="41548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E6EDF3"/>
                </a:solidFill>
                <a:latin typeface="Arial"/>
                <a:ea typeface="Microsoft YaHei"/>
                <a:cs typeface="Arial"/>
              </a:rPr>
              <a:t>实时计时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13333" y="4601528"/>
            <a:ext cx="13358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REAL-TIME TRACKING</a:t>
            </a:r>
          </a:p>
        </p:txBody>
      </p:sp>
      <p:sp>
        <p:nvSpPr>
          <p:cNvPr id="16" name="Line 16"/>
          <p:cNvSpPr/>
          <p:nvPr/>
        </p:nvSpPr>
        <p:spPr>
          <a:xfrm>
            <a:off x="1238250" y="495300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4762">
            <a:solidFill>
              <a:srgbClr val="30363D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824038" y="5188268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选择活动类别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20525" y="5474018"/>
            <a:ext cx="13214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一键开始 / 结束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24038" y="5759768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秒级精度记录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295775" y="2857500"/>
            <a:ext cx="3238500" cy="32385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4295775" y="2857500"/>
            <a:ext cx="3238500" cy="28575"/>
          </a:xfrm>
          <a:prstGeom prst="rect">
            <a:avLst/>
          </a:prstGeom>
          <a:solidFill>
            <a:srgbClr val="60A5FA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5762625" y="3505200"/>
            <a:ext cx="342900" cy="285750"/>
          </a:xfrm>
          <a:prstGeom prst="rect">
            <a:avLst/>
          </a:prstGeom>
          <a:noFill/>
          <a:ln w="14288">
            <a:solidFill>
              <a:srgbClr val="60A5FA"/>
            </a:solidFill>
          </a:ln>
        </p:spPr>
      </p:sp>
      <p:sp>
        <p:nvSpPr>
          <p:cNvPr id="23" name="Ellipse 23"/>
          <p:cNvSpPr/>
          <p:nvPr/>
        </p:nvSpPr>
        <p:spPr>
          <a:xfrm>
            <a:off x="5800725" y="3657600"/>
            <a:ext cx="171450" cy="171450"/>
          </a:xfrm>
          <a:prstGeom prst="ellipse">
            <a:avLst/>
          </a:prstGeom>
          <a:noFill/>
          <a:ln w="14288">
            <a:solidFill>
              <a:srgbClr val="60A5FA"/>
            </a:solidFill>
          </a:ln>
        </p:spPr>
      </p:sp>
      <p:sp>
        <p:nvSpPr>
          <p:cNvPr id="24" name="Line 24"/>
          <p:cNvSpPr/>
          <p:nvPr/>
        </p:nvSpPr>
        <p:spPr>
          <a:xfrm>
            <a:off x="5857875" y="3790950"/>
            <a:ext cx="57150" cy="9525"/>
          </a:xfrm>
          <a:custGeom>
            <a:avLst/>
            <a:gdLst/>
            <a:ahLst/>
            <a:cxnLst/>
            <a:rect l="l" t="t" r="r" b="b"/>
            <a:pathLst>
              <a:path w="57150" h="952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4288">
            <a:solidFill>
              <a:srgbClr val="60A5F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300282" y="41548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E6EDF3"/>
                </a:solidFill>
                <a:latin typeface="Arial"/>
                <a:ea typeface="Microsoft YaHei"/>
                <a:cs typeface="Arial"/>
              </a:rPr>
              <a:t>活动分类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369624" y="4601528"/>
            <a:ext cx="10908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CATEGORIZATION</a:t>
            </a:r>
          </a:p>
        </p:txBody>
      </p:sp>
      <p:sp>
        <p:nvSpPr>
          <p:cNvPr id="27" name="Line 27"/>
          <p:cNvSpPr/>
          <p:nvPr/>
        </p:nvSpPr>
        <p:spPr>
          <a:xfrm>
            <a:off x="4772025" y="495300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4762">
            <a:solidFill>
              <a:srgbClr val="30363D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5267801" y="5188268"/>
            <a:ext cx="12944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自定义活动类别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150787" y="5474018"/>
            <a:ext cx="15284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工作 / 学习 / 娱乐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57812" y="5759768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灵活分类管理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829550" y="2857500"/>
            <a:ext cx="3238500" cy="32385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829550" y="2857500"/>
            <a:ext cx="3238500" cy="28575"/>
          </a:xfrm>
          <a:prstGeom prst="rect">
            <a:avLst/>
          </a:prstGeom>
          <a:solidFill>
            <a:srgbClr val="34D399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9296400" y="3524250"/>
            <a:ext cx="323850" cy="342900"/>
          </a:xfrm>
          <a:prstGeom prst="rect">
            <a:avLst/>
          </a:prstGeom>
          <a:noFill/>
          <a:ln w="14288">
            <a:solidFill>
              <a:srgbClr val="34D399"/>
            </a:solidFill>
          </a:ln>
        </p:spPr>
      </p:sp>
      <p:sp>
        <p:nvSpPr>
          <p:cNvPr id="34" name="Line 34"/>
          <p:cNvSpPr/>
          <p:nvPr/>
        </p:nvSpPr>
        <p:spPr>
          <a:xfrm>
            <a:off x="9296400" y="3733800"/>
            <a:ext cx="323850" cy="9525"/>
          </a:xfrm>
          <a:custGeom>
            <a:avLst/>
            <a:gdLst/>
            <a:ahLst/>
            <a:cxnLst/>
            <a:rect l="l" t="t" r="r" b="b"/>
            <a:pathLst>
              <a:path w="323850" h="9525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/>
          <a:ln w="14288">
            <a:solidFill>
              <a:srgbClr val="34D399"/>
            </a:solidFill>
          </a:ln>
        </p:spPr>
      </p:sp>
      <p:sp>
        <p:nvSpPr>
          <p:cNvPr id="35" name="Line 35"/>
          <p:cNvSpPr/>
          <p:nvPr/>
        </p:nvSpPr>
        <p:spPr>
          <a:xfrm>
            <a:off x="9458325" y="35242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14288">
            <a:solidFill>
              <a:srgbClr val="34D399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834056" y="41548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E6EDF3"/>
                </a:solidFill>
                <a:latin typeface="Arial"/>
                <a:ea typeface="Microsoft YaHei"/>
                <a:cs typeface="Arial"/>
              </a:rPr>
              <a:t>历史记录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169432" y="4601528"/>
            <a:ext cx="5587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HISTORY</a:t>
            </a:r>
          </a:p>
        </p:txBody>
      </p:sp>
      <p:sp>
        <p:nvSpPr>
          <p:cNvPr id="38" name="Line 38"/>
          <p:cNvSpPr/>
          <p:nvPr/>
        </p:nvSpPr>
        <p:spPr>
          <a:xfrm>
            <a:off x="8305800" y="495300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4762">
            <a:solidFill>
              <a:srgbClr val="30363D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8684562" y="5188268"/>
            <a:ext cx="15284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按日 / 周 / 月筛选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891588" y="5474018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编辑活动时长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891588" y="5759768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删除误录记录</a:t>
            </a:r>
          </a:p>
        </p:txBody>
      </p:sp>
      <p:sp>
        <p:nvSpPr>
          <p:cNvPr id="42" name="Rectangle 42"/>
          <p:cNvSpPr/>
          <p:nvPr/>
        </p:nvSpPr>
        <p:spPr>
          <a:xfrm>
            <a:off x="2667000" y="6858000"/>
            <a:ext cx="3238500" cy="32385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2667000" y="6858000"/>
            <a:ext cx="3238500" cy="28575"/>
          </a:xfrm>
          <a:prstGeom prst="rect">
            <a:avLst/>
          </a:prstGeom>
          <a:solidFill>
            <a:srgbClr val="D4A574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4152900" y="3714750"/>
            <a:ext cx="133350" cy="266700"/>
          </a:xfrm>
          <a:prstGeom prst="rect">
            <a:avLst/>
          </a:prstGeom>
          <a:solidFill>
            <a:srgbClr val="D4A574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4343400" y="3581400"/>
            <a:ext cx="133350" cy="400050"/>
          </a:xfrm>
          <a:prstGeom prst="rect">
            <a:avLst/>
          </a:prstGeom>
          <a:solidFill>
            <a:srgbClr val="D4A574"/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4533900" y="3829050"/>
            <a:ext cx="133350" cy="152400"/>
          </a:xfrm>
          <a:prstGeom prst="rect">
            <a:avLst/>
          </a:prstGeom>
          <a:solidFill>
            <a:srgbClr val="60A5FA"/>
          </a:solidFill>
          <a:ln>
            <a:noFill/>
          </a:ln>
        </p:spPr>
      </p:sp>
      <p:sp>
        <p:nvSpPr>
          <p:cNvPr id="47" name="Line 47"/>
          <p:cNvSpPr/>
          <p:nvPr/>
        </p:nvSpPr>
        <p:spPr>
          <a:xfrm>
            <a:off x="4076700" y="398145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14288">
            <a:solidFill>
              <a:srgbClr val="D4A574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3671506" y="42500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E6EDF3"/>
                </a:solidFill>
                <a:latin typeface="Arial"/>
                <a:ea typeface="Microsoft YaHei"/>
                <a:cs typeface="Arial"/>
              </a:rPr>
              <a:t>时间统计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922871" y="4696778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STATISTICS</a:t>
            </a:r>
          </a:p>
        </p:txBody>
      </p:sp>
      <p:sp>
        <p:nvSpPr>
          <p:cNvPr id="50" name="Line 50"/>
          <p:cNvSpPr/>
          <p:nvPr/>
        </p:nvSpPr>
        <p:spPr>
          <a:xfrm>
            <a:off x="3143250" y="504825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4762">
            <a:solidFill>
              <a:srgbClr val="30363D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3715536" y="5283518"/>
            <a:ext cx="11414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饼图 / 柱状图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639026" y="5569268"/>
            <a:ext cx="12944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时间分布可视化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909060" y="5855018"/>
            <a:ext cx="7543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一目了然</a:t>
            </a:r>
          </a:p>
        </p:txBody>
      </p:sp>
      <p:sp>
        <p:nvSpPr>
          <p:cNvPr id="54" name="Rectangle 54"/>
          <p:cNvSpPr/>
          <p:nvPr/>
        </p:nvSpPr>
        <p:spPr>
          <a:xfrm>
            <a:off x="5924550" y="6858000"/>
            <a:ext cx="3238500" cy="32385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55" name="Rectangle 55"/>
          <p:cNvSpPr/>
          <p:nvPr/>
        </p:nvSpPr>
        <p:spPr>
          <a:xfrm>
            <a:off x="5924550" y="6858000"/>
            <a:ext cx="3238500" cy="28575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7334250" y="3552825"/>
            <a:ext cx="419100" cy="419100"/>
          </a:xfrm>
          <a:prstGeom prst="ellipse">
            <a:avLst/>
          </a:prstGeom>
          <a:noFill/>
          <a:ln w="14288">
            <a:solidFill>
              <a:srgbClr val="F97316"/>
            </a:solidFill>
          </a:ln>
        </p:spPr>
      </p:sp>
      <p:sp>
        <p:nvSpPr>
          <p:cNvPr id="57" name="Ellipse 57"/>
          <p:cNvSpPr/>
          <p:nvPr/>
        </p:nvSpPr>
        <p:spPr>
          <a:xfrm>
            <a:off x="7429500" y="3648075"/>
            <a:ext cx="228600" cy="228600"/>
          </a:xfrm>
          <a:prstGeom prst="ellipse">
            <a:avLst/>
          </a:prstGeom>
          <a:noFill/>
          <a:ln w="14288">
            <a:solidFill>
              <a:srgbClr val="F97316"/>
            </a:solidFill>
          </a:ln>
        </p:spPr>
      </p:sp>
      <p:sp>
        <p:nvSpPr>
          <p:cNvPr id="58" name="Ellipse 58"/>
          <p:cNvSpPr/>
          <p:nvPr/>
        </p:nvSpPr>
        <p:spPr>
          <a:xfrm>
            <a:off x="7505700" y="3724275"/>
            <a:ext cx="76200" cy="76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6929056" y="42500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97316"/>
                </a:solidFill>
                <a:latin typeface="Arial"/>
                <a:ea typeface="Microsoft YaHei"/>
                <a:cs typeface="Arial"/>
              </a:rPr>
              <a:t>负债分析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854881" y="4696778"/>
            <a:ext cx="13778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TIME DEBT ANALYTICS</a:t>
            </a:r>
          </a:p>
        </p:txBody>
      </p:sp>
      <p:sp>
        <p:nvSpPr>
          <p:cNvPr id="61" name="Line 61"/>
          <p:cNvSpPr/>
          <p:nvPr/>
        </p:nvSpPr>
        <p:spPr>
          <a:xfrm>
            <a:off x="6400800" y="504825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4762">
            <a:solidFill>
              <a:srgbClr val="30363D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6833568" y="5283518"/>
            <a:ext cx="14204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有效 vs 无效时间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076599" y="5569268"/>
            <a:ext cx="9344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负债率计算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986588" y="5855018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优化建议输出</a:t>
            </a:r>
          </a:p>
        </p:txBody>
      </p:sp>
      <p:sp>
        <p:nvSpPr>
          <p:cNvPr id="65" name="Rectangle 65"/>
          <p:cNvSpPr/>
          <p:nvPr/>
        </p:nvSpPr>
        <p:spPr>
          <a:xfrm>
            <a:off x="762000" y="10858500"/>
            <a:ext cx="10306050" cy="762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2867406" y="11062335"/>
            <a:ext cx="60952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Vue 3 · TypeScript · Vite · Pinia · Vant · UniApp | 本地存储 10000+ 条 · 离线可用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364998" y="11316652"/>
            <a:ext cx="31000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E7681"/>
                </a:solidFill>
                <a:latin typeface="Arial"/>
                <a:ea typeface="Microsoft YaHei"/>
                <a:cs typeface="Arial"/>
              </a:rPr>
              <a:t>iOS 12+ · Android 8.0+ · 微信小程序（适配中）</a:t>
            </a:r>
          </a:p>
        </p:txBody>
      </p:sp>
      <p:sp>
        <p:nvSpPr>
          <p:cNvPr id="68" name="Rectangle 68"/>
          <p:cNvSpPr/>
          <p:nvPr/>
        </p:nvSpPr>
        <p:spPr>
          <a:xfrm>
            <a:off x="0" y="15621000"/>
            <a:ext cx="11830050" cy="1905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10757106" y="15412402"/>
            <a:ext cx="495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03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830050" cy="1581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1830050" cy="15811500"/>
          </a:xfrm>
          <a:prstGeom prst="rect">
            <a:avLst/>
          </a:prstGeom>
          <a:gradFill>
            <a:gsLst>
              <a:gs pos="0">
                <a:srgbClr val="60A5FA">
                  <a:alpha val="5000"/>
                </a:srgbClr>
              </a:gs>
              <a:gs pos="100000">
                <a:srgbClr val="60A5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1830050" cy="28575"/>
          </a:xfrm>
          <a:prstGeom prst="rect">
            <a:avLst/>
          </a:prstGeom>
          <a:gradFill>
            <a:gsLst>
              <a:gs pos="0">
                <a:srgbClr val="D4A574">
                  <a:alpha val="70000"/>
                </a:srgbClr>
              </a:gs>
              <a:gs pos="100000">
                <a:srgbClr val="60A5FA">
                  <a:alpha val="7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39165" y="648652"/>
            <a:ext cx="15108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P · 04 · HOW IT WORKS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6780" y="1135380"/>
            <a:ext cx="21076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E6EDF3"/>
                </a:solidFill>
                <a:latin typeface="Arial"/>
                <a:ea typeface="Microsoft YaHei"/>
                <a:cs typeface="Arial"/>
              </a:rPr>
              <a:t>操作流程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5355" y="1854518"/>
            <a:ext cx="326569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B949E"/>
                </a:solidFill>
                <a:latin typeface="Arial"/>
                <a:ea typeface="Arial"/>
                <a:cs typeface="Arial"/>
              </a:rPr>
              <a:t>SIMPLER THAN YOU THINK — JUST 2 TAPS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2238375"/>
            <a:ext cx="762000" cy="19050"/>
          </a:xfrm>
          <a:prstGeom prst="rect">
            <a:avLst/>
          </a:prstGeom>
          <a:gradFill>
            <a:gsLst>
              <a:gs pos="0">
                <a:srgbClr val="D4A574"/>
              </a:gs>
              <a:gs pos="100000">
                <a:srgbClr val="60A5FA"/>
              </a:gs>
            </a:gsLst>
            <a:lin ang="0" scaled="1"/>
          </a:gradFill>
          <a:ln>
            <a:noFill/>
          </a:ln>
        </p:spPr>
      </p:sp>
      <p:sp>
        <p:nvSpPr>
          <p:cNvPr id="9" name="Line 9"/>
          <p:cNvSpPr/>
          <p:nvPr/>
        </p:nvSpPr>
        <p:spPr>
          <a:xfrm>
            <a:off x="1524000" y="3048000"/>
            <a:ext cx="9525" cy="7620000"/>
          </a:xfrm>
          <a:custGeom>
            <a:avLst/>
            <a:gdLst/>
            <a:ahLst/>
            <a:cxnLst/>
            <a:rect l="l" t="t" r="r" b="b"/>
            <a:pathLst>
              <a:path w="9525" h="7620000">
                <a:moveTo>
                  <a:pt x="0" y="0"/>
                </a:moveTo>
                <a:lnTo>
                  <a:pt x="0" y="7620000"/>
                </a:lnTo>
              </a:path>
            </a:pathLst>
          </a:custGeom>
          <a:noFill/>
          <a:ln w="9525">
            <a:solidFill>
              <a:srgbClr val="30363D"/>
            </a:solidFill>
          </a:ln>
        </p:spPr>
      </p:sp>
      <p:sp>
        <p:nvSpPr>
          <p:cNvPr id="10" name="Ellipse 10"/>
          <p:cNvSpPr/>
          <p:nvPr/>
        </p:nvSpPr>
        <p:spPr>
          <a:xfrm>
            <a:off x="1371600" y="3467100"/>
            <a:ext cx="304800" cy="30480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D4A574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454874" y="3540442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D4A57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65020" y="3312795"/>
            <a:ext cx="207721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6EDF3"/>
                </a:solidFill>
                <a:latin typeface="Arial"/>
                <a:ea typeface="Microsoft YaHei"/>
                <a:cs typeface="Arial"/>
              </a:rPr>
              <a:t>选择活动类别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80260" y="3775710"/>
            <a:ext cx="13426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8B949E"/>
                </a:solidFill>
                <a:latin typeface="Arial"/>
                <a:ea typeface="Arial"/>
                <a:cs typeface="Arial"/>
              </a:rPr>
              <a:t>SELECT CATEGORY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76450" y="4124325"/>
            <a:ext cx="295846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工作 · 学习 · 娱乐 · 休息 · 其他</a:t>
            </a:r>
          </a:p>
        </p:txBody>
      </p:sp>
      <p:sp>
        <p:nvSpPr>
          <p:cNvPr id="15" name="Ellipse 15"/>
          <p:cNvSpPr/>
          <p:nvPr/>
        </p:nvSpPr>
        <p:spPr>
          <a:xfrm>
            <a:off x="1371600" y="5372100"/>
            <a:ext cx="304800" cy="30480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60A5FA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454874" y="5445442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60A5F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65020" y="5217795"/>
            <a:ext cx="14051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6EDF3"/>
                </a:solidFill>
                <a:latin typeface="Arial"/>
                <a:ea typeface="Microsoft YaHei"/>
                <a:cs typeface="Arial"/>
              </a:rPr>
              <a:t>点击开始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80260" y="568071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8B949E"/>
                </a:solidFill>
                <a:latin typeface="Arial"/>
                <a:ea typeface="Arial"/>
                <a:cs typeface="Arial"/>
              </a:rPr>
              <a:t>TAP TO START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76450" y="6029325"/>
            <a:ext cx="38385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一键启动计时 · 页面加载 &lt; 2秒 · 秒级精度</a:t>
            </a:r>
          </a:p>
        </p:txBody>
      </p:sp>
      <p:sp>
        <p:nvSpPr>
          <p:cNvPr id="20" name="Ellipse 20"/>
          <p:cNvSpPr/>
          <p:nvPr/>
        </p:nvSpPr>
        <p:spPr>
          <a:xfrm>
            <a:off x="1371600" y="7277100"/>
            <a:ext cx="304800" cy="30480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34D399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1454874" y="7350442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34D39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65020" y="7122795"/>
            <a:ext cx="14051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6EDF3"/>
                </a:solidFill>
                <a:latin typeface="Arial"/>
                <a:ea typeface="Microsoft YaHei"/>
                <a:cs typeface="Arial"/>
              </a:rPr>
              <a:t>专注工作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080260" y="7585710"/>
            <a:ext cx="165468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8B949E"/>
                </a:solidFill>
                <a:latin typeface="Arial"/>
                <a:ea typeface="Arial"/>
                <a:cs typeface="Arial"/>
              </a:rPr>
              <a:t>FOCUS ON YOUR WORK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76450" y="7934325"/>
            <a:ext cx="460867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后台默默记录 · 支持暂停/继续 · 今日汇总实时可见</a:t>
            </a:r>
          </a:p>
        </p:txBody>
      </p:sp>
      <p:sp>
        <p:nvSpPr>
          <p:cNvPr id="25" name="Ellipse 25"/>
          <p:cNvSpPr/>
          <p:nvPr/>
        </p:nvSpPr>
        <p:spPr>
          <a:xfrm>
            <a:off x="1371600" y="9182100"/>
            <a:ext cx="304800" cy="30480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D4A574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454874" y="9255442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D4A57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65020" y="9027795"/>
            <a:ext cx="14051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D4A574"/>
                </a:solidFill>
                <a:latin typeface="Arial"/>
                <a:ea typeface="Microsoft YaHei"/>
                <a:cs typeface="Arial"/>
              </a:rPr>
              <a:t>点击结束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080260" y="9490710"/>
            <a:ext cx="98259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8B949E"/>
                </a:solidFill>
                <a:latin typeface="Arial"/>
                <a:ea typeface="Arial"/>
                <a:cs typeface="Arial"/>
              </a:rPr>
              <a:t>TAP TO STOP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076450" y="9839325"/>
            <a:ext cx="409860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数据自动保存 · 记录自动归类 · 统计实时更新</a:t>
            </a:r>
          </a:p>
        </p:txBody>
      </p:sp>
      <p:sp>
        <p:nvSpPr>
          <p:cNvPr id="30" name="Rectangle 30"/>
          <p:cNvSpPr/>
          <p:nvPr/>
        </p:nvSpPr>
        <p:spPr>
          <a:xfrm>
            <a:off x="952500" y="11239500"/>
            <a:ext cx="9925050" cy="28575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952500" y="11620500"/>
            <a:ext cx="4381500" cy="104775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314450" y="118395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6EDF3"/>
                </a:solidFill>
                <a:latin typeface="Arial"/>
                <a:ea typeface="Microsoft YaHei"/>
                <a:cs typeface="Arial"/>
              </a:rPr>
              <a:t>传统方式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18260" y="12252960"/>
            <a:ext cx="25027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打开飞书 → 找文档 → 编辑 → 输时间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18260" y="12443460"/>
            <a:ext cx="6465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97316"/>
                </a:solidFill>
                <a:latin typeface="Arial"/>
                <a:ea typeface="Microsoft YaHei"/>
                <a:cs typeface="Arial"/>
              </a:rPr>
              <a:t>6 步操作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871210" y="11900535"/>
            <a:ext cx="27650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D4A57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496050" y="11620500"/>
            <a:ext cx="4381500" cy="104775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6496050" y="11620500"/>
            <a:ext cx="4381500" cy="28575"/>
          </a:xfrm>
          <a:prstGeom prst="rect">
            <a:avLst/>
          </a:prstGeom>
          <a:gradFill>
            <a:gsLst>
              <a:gs pos="0">
                <a:srgbClr val="D4A574">
                  <a:alpha val="60000"/>
                </a:srgbClr>
              </a:gs>
              <a:gs pos="100000">
                <a:srgbClr val="60A5FA">
                  <a:alpha val="6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858000" y="11839575"/>
            <a:ext cx="110923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D4A574"/>
                </a:solidFill>
                <a:latin typeface="Arial"/>
                <a:ea typeface="Arial"/>
                <a:cs typeface="Arial"/>
              </a:rPr>
              <a:t>TimeQuest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861810" y="12252960"/>
            <a:ext cx="199072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打开 App → 点开始 → 点结束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861810" y="12443460"/>
            <a:ext cx="6465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4D399"/>
                </a:solidFill>
                <a:latin typeface="Arial"/>
                <a:ea typeface="Microsoft YaHei"/>
                <a:cs typeface="Arial"/>
              </a:rPr>
              <a:t>2 步操作</a:t>
            </a:r>
          </a:p>
        </p:txBody>
      </p:sp>
      <p:sp>
        <p:nvSpPr>
          <p:cNvPr id="41" name="Rectangle 41"/>
          <p:cNvSpPr/>
          <p:nvPr/>
        </p:nvSpPr>
        <p:spPr>
          <a:xfrm>
            <a:off x="0" y="15621000"/>
            <a:ext cx="11830050" cy="1905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0757106" y="15412402"/>
            <a:ext cx="495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04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830050" cy="1581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1830050" cy="15811500"/>
          </a:xfrm>
          <a:prstGeom prst="rect">
            <a:avLst/>
          </a:prstGeom>
          <a:gradFill>
            <a:gsLst>
              <a:gs pos="0">
                <a:srgbClr val="D4A574">
                  <a:alpha val="8000"/>
                </a:srgbClr>
              </a:gs>
              <a:gs pos="100000">
                <a:srgbClr val="D4A57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1830050" cy="28575"/>
          </a:xfrm>
          <a:prstGeom prst="rect">
            <a:avLst/>
          </a:prstGeom>
          <a:gradFill>
            <a:gsLst>
              <a:gs pos="0">
                <a:srgbClr val="D4A574">
                  <a:alpha val="70000"/>
                </a:srgbClr>
              </a:gs>
              <a:gs pos="100000">
                <a:srgbClr val="60A5FA">
                  <a:alpha val="7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39165" y="648652"/>
            <a:ext cx="1146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P · 05 · CONCEPT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1333500"/>
            <a:ext cx="10306050" cy="3048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1333500"/>
            <a:ext cx="10306050" cy="28575"/>
          </a:xfrm>
          <a:prstGeom prst="rect">
            <a:avLst/>
          </a:prstGeom>
          <a:gradFill>
            <a:gsLst>
              <a:gs pos="0">
                <a:srgbClr val="D4A574">
                  <a:alpha val="50000"/>
                </a:srgbClr>
              </a:gs>
              <a:gs pos="100000">
                <a:srgbClr val="60A5FA">
                  <a:alpha val="5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478280" y="2183130"/>
            <a:ext cx="2964599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E6EDF3"/>
                </a:solidFill>
                <a:latin typeface="Arial"/>
                <a:ea typeface="Microsoft YaHei"/>
                <a:cs typeface="Arial"/>
              </a:rPr>
              <a:t>" 时间负债 "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03045" y="2965132"/>
            <a:ext cx="106503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D4A574"/>
                </a:solidFill>
                <a:latin typeface="Arial"/>
                <a:ea typeface="Arial"/>
                <a:cs typeface="Arial"/>
              </a:rPr>
              <a:t>TIME DEBT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03045" y="3441382"/>
            <a:ext cx="554259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指人们因为拖延、低效、琐事干扰而产生的隐性时间损失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4819650"/>
            <a:ext cx="175641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E6EDF3"/>
                </a:solidFill>
                <a:latin typeface="Arial"/>
                <a:ea typeface="Microsoft YaHei"/>
                <a:cs typeface="Arial"/>
              </a:rPr>
              <a:t>核心指标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7260" y="5394960"/>
            <a:ext cx="143865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8B949E"/>
                </a:solidFill>
                <a:latin typeface="Arial"/>
                <a:ea typeface="Arial"/>
                <a:cs typeface="Arial"/>
              </a:rPr>
              <a:t>THREE KEY METRICS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6096000"/>
            <a:ext cx="3238500" cy="36195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762000" y="6096000"/>
            <a:ext cx="3238500" cy="28575"/>
          </a:xfrm>
          <a:prstGeom prst="rect">
            <a:avLst/>
          </a:prstGeom>
          <a:solidFill>
            <a:srgbClr val="D4A574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2000250" y="6667500"/>
            <a:ext cx="762000" cy="762000"/>
          </a:xfrm>
          <a:prstGeom prst="ellipse">
            <a:avLst/>
          </a:prstGeom>
          <a:noFill/>
          <a:ln w="14288">
            <a:solidFill>
              <a:srgbClr val="D4A574"/>
            </a:solidFill>
          </a:ln>
        </p:spPr>
      </p:sp>
      <p:sp>
        <p:nvSpPr>
          <p:cNvPr id="16" name="Line 16"/>
          <p:cNvSpPr/>
          <p:nvPr/>
        </p:nvSpPr>
        <p:spPr>
          <a:xfrm>
            <a:off x="2381250" y="674370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304800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D4A574"/>
            </a:solidFill>
          </a:ln>
        </p:spPr>
      </p:sp>
      <p:sp>
        <p:nvSpPr>
          <p:cNvPr id="17" name="Line 17"/>
          <p:cNvSpPr/>
          <p:nvPr/>
        </p:nvSpPr>
        <p:spPr>
          <a:xfrm>
            <a:off x="2381250" y="7048500"/>
            <a:ext cx="171450" cy="95250"/>
          </a:xfrm>
          <a:custGeom>
            <a:avLst/>
            <a:gdLst/>
            <a:ahLst/>
            <a:cxnLst/>
            <a:rect l="l" t="t" r="r" b="b"/>
            <a:pathLst>
              <a:path w="171450" h="95250">
                <a:moveTo>
                  <a:pt x="0" y="0"/>
                </a:moveTo>
                <a:lnTo>
                  <a:pt x="171450" y="95250"/>
                </a:lnTo>
              </a:path>
            </a:pathLst>
          </a:custGeom>
          <a:noFill/>
          <a:ln w="14288">
            <a:solidFill>
              <a:srgbClr val="D4A574"/>
            </a:solidFill>
          </a:ln>
        </p:spPr>
      </p:sp>
      <p:sp>
        <p:nvSpPr>
          <p:cNvPr id="18" name="Ellipse 18"/>
          <p:cNvSpPr/>
          <p:nvPr/>
        </p:nvSpPr>
        <p:spPr>
          <a:xfrm>
            <a:off x="2333625" y="7000875"/>
            <a:ext cx="95250" cy="9525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810417" y="7695248"/>
            <a:ext cx="114166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E6EDF3"/>
                </a:solidFill>
                <a:latin typeface="Arial"/>
                <a:ea typeface="Microsoft YaHei"/>
                <a:cs typeface="Arial"/>
              </a:rPr>
              <a:t>有效时间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14846" y="8078152"/>
            <a:ext cx="11328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PRODUCTIVE TIME</a:t>
            </a:r>
          </a:p>
        </p:txBody>
      </p:sp>
      <p:sp>
        <p:nvSpPr>
          <p:cNvPr id="21" name="Line 21"/>
          <p:cNvSpPr/>
          <p:nvPr/>
        </p:nvSpPr>
        <p:spPr>
          <a:xfrm>
            <a:off x="1238250" y="847725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4762">
            <a:solidFill>
              <a:srgbClr val="30363D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662112" y="8696325"/>
            <a:ext cx="14382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真正创造价值的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62125" y="8982075"/>
            <a:ext cx="1238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深度工作时间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62125" y="9267825"/>
            <a:ext cx="1238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专注不被打断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295775" y="6096000"/>
            <a:ext cx="3238500" cy="36195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4295775" y="6096000"/>
            <a:ext cx="3238500" cy="28575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27" name="Polygon 27"/>
          <p:cNvSpPr/>
          <p:nvPr/>
        </p:nvSpPr>
        <p:spPr>
          <a:xfrm>
            <a:off x="5553075" y="6715125"/>
            <a:ext cx="723900" cy="619125"/>
          </a:xfrm>
          <a:custGeom>
            <a:avLst/>
            <a:gdLst/>
            <a:ahLst/>
            <a:cxnLst/>
            <a:rect l="l" t="t" r="r" b="b"/>
            <a:pathLst>
              <a:path w="723900" h="619125">
                <a:moveTo>
                  <a:pt x="361950" y="0"/>
                </a:moveTo>
                <a:lnTo>
                  <a:pt x="723900" y="619125"/>
                </a:lnTo>
                <a:lnTo>
                  <a:pt x="0" y="619125"/>
                </a:lnTo>
                <a:close/>
              </a:path>
            </a:pathLst>
          </a:custGeom>
          <a:noFill/>
          <a:ln w="14288">
            <a:solidFill>
              <a:srgbClr val="F97316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5844249" y="6993255"/>
            <a:ext cx="14155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b="1" dirty="0">
                <a:solidFill>
                  <a:srgbClr val="F97316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344192" y="7695248"/>
            <a:ext cx="114166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97316"/>
                </a:solidFill>
                <a:latin typeface="Arial"/>
                <a:ea typeface="Microsoft YaHei"/>
                <a:cs typeface="Arial"/>
              </a:rPr>
              <a:t>无效时间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485138" y="8078152"/>
            <a:ext cx="8597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WASTED TIME</a:t>
            </a:r>
          </a:p>
        </p:txBody>
      </p:sp>
      <p:sp>
        <p:nvSpPr>
          <p:cNvPr id="31" name="Line 31"/>
          <p:cNvSpPr/>
          <p:nvPr/>
        </p:nvSpPr>
        <p:spPr>
          <a:xfrm>
            <a:off x="4772025" y="847725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4762">
            <a:solidFill>
              <a:srgbClr val="30363D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295900" y="8696325"/>
            <a:ext cx="1238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刷手机、发呆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295900" y="8982075"/>
            <a:ext cx="1238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频繁切换任务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495925" y="9267825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低效会议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829550" y="6096000"/>
            <a:ext cx="3238500" cy="36195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7829550" y="6096000"/>
            <a:ext cx="3238500" cy="28575"/>
          </a:xfrm>
          <a:prstGeom prst="rect">
            <a:avLst/>
          </a:prstGeom>
          <a:solidFill>
            <a:srgbClr val="60A5F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135808" y="6720840"/>
            <a:ext cx="625983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800" b="1" dirty="0">
                <a:solidFill>
                  <a:srgbClr val="60A5FA"/>
                </a:solidFill>
                <a:latin typeface="Arial"/>
                <a:ea typeface="Arial"/>
                <a:cs typeface="Arial"/>
              </a:rPr>
              <a:t>%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014484" y="7695248"/>
            <a:ext cx="86863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E6EDF3"/>
                </a:solidFill>
                <a:latin typeface="Arial"/>
                <a:ea typeface="Microsoft YaHei"/>
                <a:cs typeface="Arial"/>
              </a:rPr>
              <a:t>负债率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071420" y="8078152"/>
            <a:ext cx="7547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DEBT RATIO</a:t>
            </a:r>
          </a:p>
        </p:txBody>
      </p:sp>
      <p:sp>
        <p:nvSpPr>
          <p:cNvPr id="40" name="Line 40"/>
          <p:cNvSpPr/>
          <p:nvPr/>
        </p:nvSpPr>
        <p:spPr>
          <a:xfrm>
            <a:off x="8305800" y="847725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4762">
            <a:solidFill>
              <a:srgbClr val="30363D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8814673" y="8696325"/>
            <a:ext cx="126825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无效 / 总时长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829675" y="8982075"/>
            <a:ext cx="1238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量化时间效率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029700" y="9267825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越低越好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62000" y="10477500"/>
            <a:ext cx="10306050" cy="28575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3423428" y="10757535"/>
            <a:ext cx="49831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D4A574"/>
                </a:solidFill>
                <a:latin typeface="Arial"/>
                <a:ea typeface="Microsoft YaHei"/>
                <a:cs typeface="Arial"/>
              </a:rPr>
              <a:t>每一分钟，都值得被认真对待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895130" y="11284268"/>
            <a:ext cx="40397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EVERY MINUTE DESERVES TO BE TAKEN SERIOUSLY</a:t>
            </a:r>
          </a:p>
        </p:txBody>
      </p:sp>
      <p:sp>
        <p:nvSpPr>
          <p:cNvPr id="47" name="Rectangle 47"/>
          <p:cNvSpPr/>
          <p:nvPr/>
        </p:nvSpPr>
        <p:spPr>
          <a:xfrm>
            <a:off x="1905000" y="12192000"/>
            <a:ext cx="8020050" cy="85725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5614345" y="12427268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6EDF3"/>
                </a:solidFill>
                <a:latin typeface="Arial"/>
                <a:ea typeface="Microsoft YaHei"/>
                <a:cs typeface="Arial"/>
              </a:rPr>
              <a:t>技术栈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063555" y="12729210"/>
            <a:ext cx="370293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8B949E"/>
                </a:solidFill>
                <a:latin typeface="Arial"/>
                <a:ea typeface="Arial"/>
                <a:cs typeface="Arial"/>
              </a:rPr>
              <a:t>Vue 3 · TypeScript · Vite · Pinia · Vant · UniApp</a:t>
            </a:r>
          </a:p>
        </p:txBody>
      </p:sp>
      <p:sp>
        <p:nvSpPr>
          <p:cNvPr id="50" name="Rectangle 50"/>
          <p:cNvSpPr/>
          <p:nvPr/>
        </p:nvSpPr>
        <p:spPr>
          <a:xfrm>
            <a:off x="0" y="15621000"/>
            <a:ext cx="11830050" cy="1905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10757106" y="15412402"/>
            <a:ext cx="495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05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830050" cy="1581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1830050" cy="15811500"/>
          </a:xfrm>
          <a:prstGeom prst="rect">
            <a:avLst/>
          </a:prstGeom>
          <a:gradFill>
            <a:gsLst>
              <a:gs pos="0">
                <a:srgbClr val="D4A574">
                  <a:alpha val="10000"/>
                </a:srgbClr>
              </a:gs>
              <a:gs pos="100000">
                <a:srgbClr val="D4A57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1830050" cy="15811500"/>
          </a:xfrm>
          <a:prstGeom prst="rect">
            <a:avLst/>
          </a:prstGeom>
          <a:gradFill>
            <a:gsLst>
              <a:gs pos="0">
                <a:srgbClr val="60A5FA">
                  <a:alpha val="6000"/>
                </a:srgbClr>
              </a:gs>
              <a:gs pos="100000">
                <a:srgbClr val="60A5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11830050" cy="28575"/>
          </a:xfrm>
          <a:prstGeom prst="rect">
            <a:avLst/>
          </a:prstGeom>
          <a:gradFill>
            <a:gsLst>
              <a:gs pos="0">
                <a:srgbClr val="D4A574">
                  <a:alpha val="70000"/>
                </a:srgbClr>
              </a:gs>
              <a:gs pos="100000">
                <a:srgbClr val="60A5FA">
                  <a:alpha val="7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6" name="Line 6"/>
          <p:cNvSpPr/>
          <p:nvPr/>
        </p:nvSpPr>
        <p:spPr>
          <a:xfrm>
            <a:off x="1905000" y="0"/>
            <a:ext cx="9525" cy="15811500"/>
          </a:xfrm>
          <a:custGeom>
            <a:avLst/>
            <a:gdLst/>
            <a:ahLst/>
            <a:cxnLst/>
            <a:rect l="l" t="t" r="r" b="b"/>
            <a:pathLst>
              <a:path w="9525" h="15811500">
                <a:moveTo>
                  <a:pt x="0" y="0"/>
                </a:moveTo>
                <a:lnTo>
                  <a:pt x="0" y="15811500"/>
                </a:lnTo>
              </a:path>
            </a:pathLst>
          </a:custGeom>
          <a:noFill/>
          <a:ln w="4762">
            <a:solidFill>
              <a:srgbClr val="30363D">
                <a:alpha val="20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5915025" y="0"/>
            <a:ext cx="9525" cy="15811500"/>
          </a:xfrm>
          <a:custGeom>
            <a:avLst/>
            <a:gdLst/>
            <a:ahLst/>
            <a:cxnLst/>
            <a:rect l="l" t="t" r="r" b="b"/>
            <a:pathLst>
              <a:path w="9525" h="15811500">
                <a:moveTo>
                  <a:pt x="0" y="0"/>
                </a:moveTo>
                <a:lnTo>
                  <a:pt x="0" y="15811500"/>
                </a:lnTo>
              </a:path>
            </a:pathLst>
          </a:custGeom>
          <a:noFill/>
          <a:ln w="4762">
            <a:solidFill>
              <a:srgbClr val="30363D">
                <a:alpha val="20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9925050" y="0"/>
            <a:ext cx="9525" cy="15811500"/>
          </a:xfrm>
          <a:custGeom>
            <a:avLst/>
            <a:gdLst/>
            <a:ahLst/>
            <a:cxnLst/>
            <a:rect l="l" t="t" r="r" b="b"/>
            <a:pathLst>
              <a:path w="9525" h="15811500">
                <a:moveTo>
                  <a:pt x="0" y="0"/>
                </a:moveTo>
                <a:lnTo>
                  <a:pt x="0" y="15811500"/>
                </a:lnTo>
              </a:path>
            </a:pathLst>
          </a:custGeom>
          <a:noFill/>
          <a:ln w="4762">
            <a:solidFill>
              <a:srgbClr val="30363D">
                <a:alpha val="20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39165" y="648652"/>
            <a:ext cx="11118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P · 06 · CLOSING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153025" y="2095500"/>
            <a:ext cx="914400" cy="914400"/>
            <a:chOff x="5153025" y="2095500"/>
            <a:chExt cx="914400" cy="914400"/>
          </a:xfrm>
        </p:grpSpPr>
        <p:sp>
          <p:nvSpPr>
            <p:cNvPr id="10" name="Freeform 10"/>
            <p:cNvSpPr/>
            <p:nvPr/>
          </p:nvSpPr>
          <p:spPr>
            <a:xfrm>
              <a:off x="5153025" y="20955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cubicBezTo>
                    <a:pt x="204695" y="0"/>
                    <a:pt x="0" y="204695"/>
                    <a:pt x="0" y="457200"/>
                  </a:cubicBezTo>
                  <a:cubicBezTo>
                    <a:pt x="0" y="709706"/>
                    <a:pt x="204695" y="914400"/>
                    <a:pt x="457200" y="914400"/>
                  </a:cubicBezTo>
                  <a:cubicBezTo>
                    <a:pt x="709706" y="914400"/>
                    <a:pt x="914400" y="709706"/>
                    <a:pt x="914400" y="457200"/>
                  </a:cubicBezTo>
                  <a:cubicBezTo>
                    <a:pt x="914400" y="204695"/>
                    <a:pt x="709706" y="0"/>
                    <a:pt x="457200" y="0"/>
                  </a:cubicBezTo>
                  <a:close/>
                  <a:moveTo>
                    <a:pt x="457200" y="800100"/>
                  </a:moveTo>
                  <a:cubicBezTo>
                    <a:pt x="267821" y="800100"/>
                    <a:pt x="114300" y="646578"/>
                    <a:pt x="114300" y="457200"/>
                  </a:cubicBezTo>
                  <a:cubicBezTo>
                    <a:pt x="114300" y="267821"/>
                    <a:pt x="267821" y="114300"/>
                    <a:pt x="457200" y="114300"/>
                  </a:cubicBezTo>
                  <a:cubicBezTo>
                    <a:pt x="646578" y="114300"/>
                    <a:pt x="800100" y="267821"/>
                    <a:pt x="800100" y="457200"/>
                  </a:cubicBezTo>
                  <a:cubicBezTo>
                    <a:pt x="800100" y="646578"/>
                    <a:pt x="646578" y="800100"/>
                    <a:pt x="457200" y="800100"/>
                  </a:cubicBez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5553075" y="232410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143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285750" y="285750"/>
                  </a:lnTo>
                  <a:lnTo>
                    <a:pt x="285750" y="171450"/>
                  </a:lnTo>
                  <a:lnTo>
                    <a:pt x="114300" y="17145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4158615" y="2876550"/>
            <a:ext cx="3512820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E6EDF3"/>
                </a:solidFill>
                <a:effectLst>
                  <a:glow rad="114300">
                    <a:srgbClr val="D4A574">
                      <a:alpha val="30000"/>
                    </a:srgbClr>
                  </a:glow>
                </a:effectLst>
                <a:latin typeface="Arial"/>
                <a:ea typeface="Microsoft YaHei"/>
                <a:cs typeface="Arial"/>
              </a:rPr>
              <a:t>开始追踪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18510" y="3924300"/>
            <a:ext cx="5193030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D4A574"/>
                </a:solidFill>
                <a:latin typeface="Arial"/>
                <a:ea typeface="Microsoft YaHei"/>
                <a:cs typeface="Arial"/>
              </a:rPr>
              <a:t>你的每一分钟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61861" y="5044440"/>
            <a:ext cx="49063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dirty="0">
                <a:solidFill>
                  <a:srgbClr val="8B949E"/>
                </a:solidFill>
                <a:latin typeface="Arial"/>
                <a:ea typeface="Arial"/>
                <a:cs typeface="Arial"/>
              </a:rPr>
              <a:t>Start tracking every minute of your life.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200525" y="5619750"/>
            <a:ext cx="342900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1905000" y="6191250"/>
            <a:ext cx="8020050" cy="17145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1905000" y="6191250"/>
            <a:ext cx="8020050" cy="28575"/>
          </a:xfrm>
          <a:prstGeom prst="rect">
            <a:avLst/>
          </a:prstGeom>
          <a:gradFill>
            <a:gsLst>
              <a:gs pos="0">
                <a:srgbClr val="D4A574">
                  <a:alpha val="50000"/>
                </a:srgbClr>
              </a:gs>
              <a:gs pos="100000">
                <a:srgbClr val="60A5FA">
                  <a:alpha val="5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2457450" y="6600825"/>
            <a:ext cx="24784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6EDF3"/>
                </a:solidFill>
                <a:latin typeface="Arial"/>
                <a:ea typeface="Microsoft YaHei"/>
                <a:cs typeface="Arial"/>
              </a:rPr>
              <a:t>TIMEQUEST · 时间管理 App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61260" y="6966585"/>
            <a:ext cx="31668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8B949E"/>
                </a:solidFill>
                <a:latin typeface="Arial"/>
                <a:ea typeface="Arial"/>
                <a:cs typeface="Arial"/>
              </a:rPr>
              <a:t>Vue 3 · TypeScript · Vite · Pinia · UniApp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61260" y="7299960"/>
            <a:ext cx="35429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B949E"/>
                </a:solidFill>
                <a:latin typeface="Arial"/>
                <a:ea typeface="Microsoft YaHei"/>
                <a:cs typeface="Arial"/>
              </a:rPr>
              <a:t>iOS 12+ · Android 8.0+ · 微信小程序（适配中）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00950" y="6600825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6EDF3"/>
                </a:solidFill>
                <a:latin typeface="Arial"/>
                <a:ea typeface="Microsoft YaHei"/>
                <a:cs typeface="Arial"/>
              </a:rPr>
              <a:t>开源协议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604760" y="6966585"/>
            <a:ext cx="9105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MIT License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604760" y="7299960"/>
            <a:ext cx="19267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GitHub: @codinglawrence</a:t>
            </a:r>
          </a:p>
        </p:txBody>
      </p:sp>
      <p:sp>
        <p:nvSpPr>
          <p:cNvPr id="25" name="Ellipse 25"/>
          <p:cNvSpPr/>
          <p:nvPr/>
        </p:nvSpPr>
        <p:spPr>
          <a:xfrm>
            <a:off x="1143000" y="12287250"/>
            <a:ext cx="1143000" cy="1143000"/>
          </a:xfrm>
          <a:prstGeom prst="ellipse">
            <a:avLst/>
          </a:prstGeom>
          <a:noFill/>
          <a:ln w="9525">
            <a:solidFill>
              <a:srgbClr val="D4A574">
                <a:alpha val="12000"/>
              </a:srgbClr>
            </a:solidFill>
          </a:ln>
        </p:spPr>
      </p:sp>
      <p:sp>
        <p:nvSpPr>
          <p:cNvPr id="26" name="Ellipse 26"/>
          <p:cNvSpPr/>
          <p:nvPr/>
        </p:nvSpPr>
        <p:spPr>
          <a:xfrm>
            <a:off x="1381125" y="12525375"/>
            <a:ext cx="666750" cy="666750"/>
          </a:xfrm>
          <a:prstGeom prst="ellipse">
            <a:avLst/>
          </a:prstGeom>
          <a:noFill/>
          <a:ln w="4762">
            <a:solidFill>
              <a:srgbClr val="D4A574">
                <a:alpha val="8000"/>
              </a:srgbClr>
            </a:solidFill>
          </a:ln>
        </p:spPr>
      </p:sp>
      <p:sp>
        <p:nvSpPr>
          <p:cNvPr id="27" name="Ellipse 27"/>
          <p:cNvSpPr/>
          <p:nvPr/>
        </p:nvSpPr>
        <p:spPr>
          <a:xfrm>
            <a:off x="9429750" y="11239500"/>
            <a:ext cx="1333500" cy="1333500"/>
          </a:xfrm>
          <a:prstGeom prst="ellipse">
            <a:avLst/>
          </a:prstGeom>
          <a:noFill/>
          <a:ln w="9525">
            <a:solidFill>
              <a:srgbClr val="60A5FA">
                <a:alpha val="10000"/>
              </a:srgbClr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0" y="15621000"/>
            <a:ext cx="11830050" cy="1905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3057525" y="15621000"/>
            <a:ext cx="5715000" cy="28575"/>
          </a:xfrm>
          <a:prstGeom prst="rect">
            <a:avLst/>
          </a:prstGeom>
          <a:gradFill>
            <a:gsLst>
              <a:gs pos="0">
                <a:srgbClr val="D4A574">
                  <a:alpha val="50000"/>
                </a:srgbClr>
              </a:gs>
              <a:gs pos="100000">
                <a:srgbClr val="60A5FA">
                  <a:alpha val="5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631752" y="15396210"/>
            <a:ext cx="5665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6E7681"/>
                </a:solidFill>
                <a:latin typeface="Arial"/>
                <a:ea typeface="Arial"/>
                <a:cs typeface="Arial"/>
              </a:rPr>
              <a:t>— END —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2026-06-30T14:43:24Z</dcterms:created>
  <dcterms:modified xsi:type="dcterms:W3CDTF">2026-06-30T14:43:24Z</dcterms:modified>
  <cp:category/>
  <cp:contentStatus/>
</cp:coreProperties>
</file>