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1830050" cy="15811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37260" y="822960"/>
            <a:ext cx="22147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TIME MANAGEMENT APP · 2026</a:t>
            </a:r>
          </a:p>
        </p:txBody>
      </p:sp>
      <p:sp>
        <p:nvSpPr>
          <p:cNvPr id="4" name="Line 4"/>
          <p:cNvSpPr/>
          <p:nvPr/>
        </p:nvSpPr>
        <p:spPr>
          <a:xfrm>
            <a:off x="952500" y="110490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9525">
            <a:solidFill>
              <a:srgbClr val="1A1A1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857250" y="5095875"/>
            <a:ext cx="5546169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0" b="1" dirty="0">
                <a:solidFill>
                  <a:srgbClr val="1A1A1A"/>
                </a:solidFill>
                <a:latin typeface="Arial Black"/>
                <a:ea typeface="Arial Black"/>
                <a:cs typeface="Arial Black"/>
              </a:rPr>
              <a:t>TIMEQUEST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6780" y="64693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时间负债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545" y="7251382"/>
            <a:ext cx="261623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YOUR TIME DEBT MANAGER</a:t>
            </a:r>
          </a:p>
        </p:txBody>
      </p:sp>
      <p:sp>
        <p:nvSpPr>
          <p:cNvPr id="8" name="Line 8"/>
          <p:cNvSpPr/>
          <p:nvPr/>
        </p:nvSpPr>
        <p:spPr>
          <a:xfrm>
            <a:off x="952500" y="80010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38100">
            <a:solidFill>
              <a:srgbClr val="D9251D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21105" y="8141018"/>
            <a:ext cx="23745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追踪每一分钟，消灭时间黑洞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3010" y="8442960"/>
            <a:ext cx="37429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Track every minute. Eliminate time black holes.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1543050"/>
            <a:ext cx="3767804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0" b="1" dirty="0">
                <a:solidFill>
                  <a:srgbClr val="F4F4F4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12" name="Line 12"/>
          <p:cNvSpPr/>
          <p:nvPr/>
        </p:nvSpPr>
        <p:spPr>
          <a:xfrm>
            <a:off x="952500" y="123825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13" name="Line 13"/>
          <p:cNvSpPr/>
          <p:nvPr/>
        </p:nvSpPr>
        <p:spPr>
          <a:xfrm>
            <a:off x="952500" y="133350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14" name="Line 14"/>
          <p:cNvSpPr/>
          <p:nvPr/>
        </p:nvSpPr>
        <p:spPr>
          <a:xfrm>
            <a:off x="952500" y="142875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33450" y="12792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实时计时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7260" y="13110210"/>
            <a:ext cx="14866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Real-time tracking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90950" y="12792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活动分类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94760" y="13110210"/>
            <a:ext cx="18547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Activity categorization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48450" y="12792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负债分析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52260" y="13110210"/>
            <a:ext cx="15346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Time debt analytics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05950" y="12792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数据持久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09760" y="13110210"/>
            <a:ext cx="10946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Local storage</a:t>
            </a:r>
          </a:p>
        </p:txBody>
      </p:sp>
      <p:sp>
        <p:nvSpPr>
          <p:cNvPr id="23" name="Line 23"/>
          <p:cNvSpPr/>
          <p:nvPr/>
        </p:nvSpPr>
        <p:spPr>
          <a:xfrm>
            <a:off x="3333750" y="12573000"/>
            <a:ext cx="9525" cy="1047750"/>
          </a:xfrm>
          <a:custGeom>
            <a:avLst/>
            <a:gdLst/>
            <a:ahLst/>
            <a:cxnLst/>
            <a:rect l="l" t="t" r="r" b="b"/>
            <a:pathLst>
              <a:path w="9525" h="1047750">
                <a:moveTo>
                  <a:pt x="0" y="0"/>
                </a:moveTo>
                <a:lnTo>
                  <a:pt x="0" y="104775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24" name="Line 24"/>
          <p:cNvSpPr/>
          <p:nvPr/>
        </p:nvSpPr>
        <p:spPr>
          <a:xfrm>
            <a:off x="6191250" y="12573000"/>
            <a:ext cx="9525" cy="1047750"/>
          </a:xfrm>
          <a:custGeom>
            <a:avLst/>
            <a:gdLst/>
            <a:ahLst/>
            <a:cxnLst/>
            <a:rect l="l" t="t" r="r" b="b"/>
            <a:pathLst>
              <a:path w="9525" h="1047750">
                <a:moveTo>
                  <a:pt x="0" y="0"/>
                </a:moveTo>
                <a:lnTo>
                  <a:pt x="0" y="104775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25" name="Line 25"/>
          <p:cNvSpPr/>
          <p:nvPr/>
        </p:nvSpPr>
        <p:spPr>
          <a:xfrm>
            <a:off x="9048750" y="12573000"/>
            <a:ext cx="9525" cy="1047750"/>
          </a:xfrm>
          <a:custGeom>
            <a:avLst/>
            <a:gdLst/>
            <a:ahLst/>
            <a:cxnLst/>
            <a:rect l="l" t="t" r="r" b="b"/>
            <a:pathLst>
              <a:path w="9525" h="1047750">
                <a:moveTo>
                  <a:pt x="0" y="0"/>
                </a:moveTo>
                <a:lnTo>
                  <a:pt x="0" y="104775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0326243" y="153009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39165" y="648652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P · 02 · PAIN POINTS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6780" y="11353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用户痛点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5355" y="1759268"/>
            <a:ext cx="37427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WHAT USERS SUFFER FROM TIME MANAGEMENT</a:t>
            </a:r>
          </a:p>
        </p:txBody>
      </p:sp>
      <p:sp>
        <p:nvSpPr>
          <p:cNvPr id="6" name="Line 6"/>
          <p:cNvSpPr/>
          <p:nvPr/>
        </p:nvSpPr>
        <p:spPr>
          <a:xfrm>
            <a:off x="952500" y="215265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D9251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562600" y="2038350"/>
            <a:ext cx="1228916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0" b="1" dirty="0">
                <a:solidFill>
                  <a:srgbClr val="F4F4F4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59855" y="252126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MAJOR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59855" y="2807018"/>
            <a:ext cx="3853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PAIN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59855" y="3092768"/>
            <a:ext cx="6193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POINTS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3920" y="3608070"/>
            <a:ext cx="96886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solidFill>
                  <a:srgbClr val="E8E8E8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12" name="Line 12"/>
          <p:cNvSpPr/>
          <p:nvPr/>
        </p:nvSpPr>
        <p:spPr>
          <a:xfrm>
            <a:off x="952500" y="46291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9525">
            <a:solidFill>
              <a:srgbClr val="1A1A1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25830" y="4726305"/>
            <a:ext cx="21115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时间浪费不自知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7260" y="5156835"/>
            <a:ext cx="19347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UNAWARE OF TIME WASTED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3450" y="5553075"/>
            <a:ext cx="29784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凭感觉估算，实际偏差可达 ±40%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3450" y="5838825"/>
            <a:ext cx="30384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缺乏客观数据，自我认知严重失真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3920" y="6465570"/>
            <a:ext cx="96886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solidFill>
                  <a:srgbClr val="E8E8E8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18" name="Line 18"/>
          <p:cNvSpPr/>
          <p:nvPr/>
        </p:nvSpPr>
        <p:spPr>
          <a:xfrm>
            <a:off x="952500" y="74866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9525">
            <a:solidFill>
              <a:srgbClr val="1A1A1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25830" y="7583805"/>
            <a:ext cx="21115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记录操作太繁琐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7260" y="8014335"/>
            <a:ext cx="22947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TRACKING IS TOO COMPLICATED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3450" y="8410575"/>
            <a:ext cx="286845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飞书记录需 6 步操作，难以坚持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3450" y="8696325"/>
            <a:ext cx="30384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繁琐流程让时间管理本身变成负担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3920" y="9323070"/>
            <a:ext cx="96886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solidFill>
                  <a:srgbClr val="E8E8E8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24" name="Line 24"/>
          <p:cNvSpPr/>
          <p:nvPr/>
        </p:nvSpPr>
        <p:spPr>
          <a:xfrm>
            <a:off x="952500" y="103441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9525">
            <a:solidFill>
              <a:srgbClr val="1A1A1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25830" y="10441305"/>
            <a:ext cx="24056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不知道时间花在哪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7260" y="10871835"/>
            <a:ext cx="19427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 IDEA WHERE TIME GOES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3450" y="11268075"/>
            <a:ext cx="30384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没有分类统计，无法看到时间分布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3450" y="11553825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工作、学习、娱乐混在一起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3920" y="12180570"/>
            <a:ext cx="96886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solidFill>
                  <a:srgbClr val="E8E8E8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30" name="Line 30"/>
          <p:cNvSpPr/>
          <p:nvPr/>
        </p:nvSpPr>
        <p:spPr>
          <a:xfrm>
            <a:off x="952500" y="132016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19050">
            <a:solidFill>
              <a:srgbClr val="D9251D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25830" y="13298805"/>
            <a:ext cx="24056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D9251D"/>
                </a:solidFill>
                <a:latin typeface="Arial Black"/>
                <a:ea typeface="Microsoft YaHei"/>
                <a:cs typeface="Arial Black"/>
              </a:rPr>
              <a:t>不知道债务怎么还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7260" y="13729335"/>
            <a:ext cx="23427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 WAY TO PAY BACK TIME DEBT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3450" y="14125575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知道有问题，但不知道怎么优化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3450" y="14411325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缺少量化分析和改进建议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326243" y="153009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39165" y="648652"/>
            <a:ext cx="11958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P · 03 ·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6780" y="11353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核心功能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5355" y="1759268"/>
            <a:ext cx="29776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FIVE CORE FEATURES OF TIMEQUEST</a:t>
            </a:r>
          </a:p>
        </p:txBody>
      </p:sp>
      <p:sp>
        <p:nvSpPr>
          <p:cNvPr id="6" name="Line 6"/>
          <p:cNvSpPr/>
          <p:nvPr/>
        </p:nvSpPr>
        <p:spPr>
          <a:xfrm>
            <a:off x="952500" y="215265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D9251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952500" y="2857500"/>
            <a:ext cx="28575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952500" y="2857500"/>
            <a:ext cx="2857500" cy="571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2095500" y="3429000"/>
            <a:ext cx="571500" cy="571500"/>
          </a:xfrm>
          <a:prstGeom prst="ellipse">
            <a:avLst/>
          </a:prstGeom>
          <a:noFill/>
          <a:ln w="19050">
            <a:solidFill>
              <a:srgbClr val="1A1A1A"/>
            </a:solidFill>
          </a:ln>
        </p:spPr>
      </p:sp>
      <p:sp>
        <p:nvSpPr>
          <p:cNvPr id="10" name="Line 10"/>
          <p:cNvSpPr/>
          <p:nvPr/>
        </p:nvSpPr>
        <p:spPr>
          <a:xfrm>
            <a:off x="2381250" y="352425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A1A1A"/>
            </a:solidFill>
          </a:ln>
        </p:spPr>
      </p:sp>
      <p:sp>
        <p:nvSpPr>
          <p:cNvPr id="11" name="Line 11"/>
          <p:cNvSpPr/>
          <p:nvPr/>
        </p:nvSpPr>
        <p:spPr>
          <a:xfrm>
            <a:off x="2381250" y="3714750"/>
            <a:ext cx="142875" cy="47625"/>
          </a:xfrm>
          <a:custGeom>
            <a:avLst/>
            <a:gdLst/>
            <a:ahLst/>
            <a:cxnLst/>
            <a:rect l="l" t="t" r="r" b="b"/>
            <a:pathLst>
              <a:path w="142875" h="47625">
                <a:moveTo>
                  <a:pt x="0" y="0"/>
                </a:moveTo>
                <a:lnTo>
                  <a:pt x="142875" y="47625"/>
                </a:lnTo>
              </a:path>
            </a:pathLst>
          </a:custGeom>
          <a:noFill/>
          <a:ln w="19050">
            <a:solidFill>
              <a:srgbClr val="D9251D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2343150" y="3676650"/>
            <a:ext cx="76200" cy="762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810417" y="4170998"/>
            <a:ext cx="114166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实时计时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3333" y="4601528"/>
            <a:ext cx="13358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REAL-TIME TRACKING</a:t>
            </a:r>
          </a:p>
        </p:txBody>
      </p:sp>
      <p:sp>
        <p:nvSpPr>
          <p:cNvPr id="15" name="Line 15"/>
          <p:cNvSpPr/>
          <p:nvPr/>
        </p:nvSpPr>
        <p:spPr>
          <a:xfrm>
            <a:off x="1524000" y="49530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824038" y="5140642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选择活动类别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0525" y="5426392"/>
            <a:ext cx="13214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一键开始 / 结束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24038" y="5712142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秒级精度记录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486275" y="2857500"/>
            <a:ext cx="28575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486275" y="2857500"/>
            <a:ext cx="2857500" cy="571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762625" y="3505200"/>
            <a:ext cx="342900" cy="266700"/>
          </a:xfrm>
          <a:prstGeom prst="rect">
            <a:avLst/>
          </a:prstGeom>
          <a:noFill/>
          <a:ln w="19050">
            <a:solidFill>
              <a:srgbClr val="1A1A1A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5810250" y="3657600"/>
            <a:ext cx="152400" cy="152400"/>
          </a:xfrm>
          <a:prstGeom prst="ellipse">
            <a:avLst/>
          </a:prstGeom>
          <a:noFill/>
          <a:ln w="19050">
            <a:solidFill>
              <a:srgbClr val="D9251D"/>
            </a:solidFill>
          </a:ln>
        </p:spPr>
      </p:sp>
      <p:sp>
        <p:nvSpPr>
          <p:cNvPr id="23" name="Line 23"/>
          <p:cNvSpPr/>
          <p:nvPr/>
        </p:nvSpPr>
        <p:spPr>
          <a:xfrm>
            <a:off x="5857875" y="3771900"/>
            <a:ext cx="57150" cy="9525"/>
          </a:xfrm>
          <a:custGeom>
            <a:avLst/>
            <a:gdLst/>
            <a:ahLst/>
            <a:cxnLst/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9050">
            <a:solidFill>
              <a:srgbClr val="D9251D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344192" y="4170998"/>
            <a:ext cx="114166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活动分类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69624" y="4601528"/>
            <a:ext cx="10908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CATEGORIZATION</a:t>
            </a:r>
          </a:p>
        </p:txBody>
      </p:sp>
      <p:sp>
        <p:nvSpPr>
          <p:cNvPr id="26" name="Line 26"/>
          <p:cNvSpPr/>
          <p:nvPr/>
        </p:nvSpPr>
        <p:spPr>
          <a:xfrm>
            <a:off x="5057775" y="49530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267801" y="5140642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自定义活动类别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867251" y="5426392"/>
            <a:ext cx="20955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工作 / 学习 / 娱乐 / 休息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57812" y="5712142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灵活分类管理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20050" y="2857500"/>
            <a:ext cx="28575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8020050" y="2857500"/>
            <a:ext cx="2857500" cy="571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9296400" y="3524250"/>
            <a:ext cx="304800" cy="323850"/>
          </a:xfrm>
          <a:prstGeom prst="rect">
            <a:avLst/>
          </a:prstGeom>
          <a:noFill/>
          <a:ln w="19050">
            <a:solidFill>
              <a:srgbClr val="1A1A1A"/>
            </a:solidFill>
          </a:ln>
        </p:spPr>
      </p:sp>
      <p:sp>
        <p:nvSpPr>
          <p:cNvPr id="33" name="Line 33"/>
          <p:cNvSpPr/>
          <p:nvPr/>
        </p:nvSpPr>
        <p:spPr>
          <a:xfrm>
            <a:off x="9296400" y="3714750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9050">
            <a:solidFill>
              <a:srgbClr val="D9251D"/>
            </a:solidFill>
          </a:ln>
        </p:spPr>
      </p:sp>
      <p:sp>
        <p:nvSpPr>
          <p:cNvPr id="34" name="Line 34"/>
          <p:cNvSpPr/>
          <p:nvPr/>
        </p:nvSpPr>
        <p:spPr>
          <a:xfrm>
            <a:off x="9448800" y="35242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19050">
            <a:solidFill>
              <a:srgbClr val="1A1A1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877967" y="4170998"/>
            <a:ext cx="114166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历史记录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69432" y="4601528"/>
            <a:ext cx="5587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37" name="Line 37"/>
          <p:cNvSpPr/>
          <p:nvPr/>
        </p:nvSpPr>
        <p:spPr>
          <a:xfrm>
            <a:off x="8591550" y="49530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684562" y="5140642"/>
            <a:ext cx="15284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按日 / 周 / 月筛选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891588" y="5426392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编辑活动时长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91588" y="5712142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删除误录记录</a:t>
            </a:r>
          </a:p>
        </p:txBody>
      </p:sp>
      <p:sp>
        <p:nvSpPr>
          <p:cNvPr id="41" name="Rectangle 41"/>
          <p:cNvSpPr/>
          <p:nvPr/>
        </p:nvSpPr>
        <p:spPr>
          <a:xfrm>
            <a:off x="1905000" y="6858000"/>
            <a:ext cx="28575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1905000" y="6858000"/>
            <a:ext cx="2857500" cy="571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3200400" y="3790950"/>
            <a:ext cx="11430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3371850" y="3676650"/>
            <a:ext cx="114300" cy="3429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3543300" y="3886200"/>
            <a:ext cx="114300" cy="133350"/>
          </a:xfrm>
          <a:prstGeom prst="rect">
            <a:avLst/>
          </a:prstGeom>
          <a:solidFill>
            <a:srgbClr val="D9251D"/>
          </a:solidFill>
          <a:ln>
            <a:noFill/>
          </a:ln>
        </p:spPr>
      </p:sp>
      <p:sp>
        <p:nvSpPr>
          <p:cNvPr id="46" name="Line 46"/>
          <p:cNvSpPr/>
          <p:nvPr/>
        </p:nvSpPr>
        <p:spPr>
          <a:xfrm>
            <a:off x="3143250" y="401955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1A1A1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2762917" y="4361498"/>
            <a:ext cx="114166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时间统计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970371" y="4792028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STATISTICS</a:t>
            </a:r>
          </a:p>
        </p:txBody>
      </p:sp>
      <p:sp>
        <p:nvSpPr>
          <p:cNvPr id="49" name="Line 49"/>
          <p:cNvSpPr/>
          <p:nvPr/>
        </p:nvSpPr>
        <p:spPr>
          <a:xfrm>
            <a:off x="2476500" y="51435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2763036" y="5331142"/>
            <a:ext cx="11414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饼图 / 柱状图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686526" y="5616892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时间分布可视化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956560" y="5902642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一目了然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438775" y="6858000"/>
            <a:ext cx="28575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5438775" y="6858000"/>
            <a:ext cx="2857500" cy="57150"/>
          </a:xfrm>
          <a:prstGeom prst="rect">
            <a:avLst/>
          </a:prstGeom>
          <a:solidFill>
            <a:srgbClr val="D9251D"/>
          </a:solidFill>
          <a:ln>
            <a:noFill/>
          </a:ln>
        </p:spPr>
      </p:sp>
      <p:sp>
        <p:nvSpPr>
          <p:cNvPr id="55" name="Ellipse 55"/>
          <p:cNvSpPr/>
          <p:nvPr/>
        </p:nvSpPr>
        <p:spPr>
          <a:xfrm>
            <a:off x="6677025" y="3543300"/>
            <a:ext cx="381000" cy="381000"/>
          </a:xfrm>
          <a:prstGeom prst="ellipse">
            <a:avLst/>
          </a:prstGeom>
          <a:noFill/>
          <a:ln w="19050">
            <a:solidFill>
              <a:srgbClr val="1A1A1A"/>
            </a:solidFill>
          </a:ln>
        </p:spPr>
      </p:sp>
      <p:sp>
        <p:nvSpPr>
          <p:cNvPr id="56" name="Ellipse 56"/>
          <p:cNvSpPr/>
          <p:nvPr/>
        </p:nvSpPr>
        <p:spPr>
          <a:xfrm>
            <a:off x="6772275" y="3638550"/>
            <a:ext cx="190500" cy="190500"/>
          </a:xfrm>
          <a:prstGeom prst="ellipse">
            <a:avLst/>
          </a:prstGeom>
          <a:noFill/>
          <a:ln w="19050">
            <a:solidFill>
              <a:srgbClr val="D9251D"/>
            </a:solidFill>
          </a:ln>
        </p:spPr>
      </p:sp>
      <p:sp>
        <p:nvSpPr>
          <p:cNvPr id="57" name="Ellipse 57"/>
          <p:cNvSpPr/>
          <p:nvPr/>
        </p:nvSpPr>
        <p:spPr>
          <a:xfrm>
            <a:off x="6838950" y="3705225"/>
            <a:ext cx="57150" cy="57150"/>
          </a:xfrm>
          <a:prstGeom prst="ellipse">
            <a:avLst/>
          </a:prstGeom>
          <a:solidFill>
            <a:srgbClr val="D9251D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296692" y="4361498"/>
            <a:ext cx="114166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D9251D"/>
                </a:solidFill>
                <a:latin typeface="Arial Black"/>
                <a:ea typeface="Microsoft YaHei"/>
                <a:cs typeface="Arial Black"/>
              </a:rPr>
              <a:t>负债分析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178606" y="4792028"/>
            <a:ext cx="13778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TIME DEBT ANALYTICS</a:t>
            </a:r>
          </a:p>
        </p:txBody>
      </p:sp>
      <p:sp>
        <p:nvSpPr>
          <p:cNvPr id="60" name="Line 60"/>
          <p:cNvSpPr/>
          <p:nvPr/>
        </p:nvSpPr>
        <p:spPr>
          <a:xfrm>
            <a:off x="6010275" y="51435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5977271" y="5331142"/>
            <a:ext cx="17805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有效时间 vs 无效时间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220301" y="5616892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时间负债率计算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0312" y="5902642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优化建议输出</a:t>
            </a:r>
          </a:p>
        </p:txBody>
      </p:sp>
      <p:sp>
        <p:nvSpPr>
          <p:cNvPr id="64" name="Line 64"/>
          <p:cNvSpPr/>
          <p:nvPr/>
        </p:nvSpPr>
        <p:spPr>
          <a:xfrm>
            <a:off x="952500" y="108585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935355" y="11093768"/>
            <a:ext cx="40037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* 支持 10000+ 条本地记录 · 离线可用 · 隐私安全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326243" y="153009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39165" y="648652"/>
            <a:ext cx="15108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P · 04 · HOW IT WORKS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6780" y="11353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操作流程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5355" y="1759268"/>
            <a:ext cx="32656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SIMPLER THAN YOU THINK — JUST 2 TAPS</a:t>
            </a:r>
          </a:p>
        </p:txBody>
      </p:sp>
      <p:sp>
        <p:nvSpPr>
          <p:cNvPr id="6" name="Line 6"/>
          <p:cNvSpPr/>
          <p:nvPr/>
        </p:nvSpPr>
        <p:spPr>
          <a:xfrm>
            <a:off x="952500" y="215265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D9251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429500" y="1428750"/>
            <a:ext cx="1536144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0" b="1" dirty="0">
                <a:solidFill>
                  <a:srgbClr val="F4F4F4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47760" y="2346960"/>
            <a:ext cx="4705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STEPS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47760" y="2585085"/>
            <a:ext cx="4145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  <p:sp>
        <p:nvSpPr>
          <p:cNvPr id="10" name="Line 10"/>
          <p:cNvSpPr/>
          <p:nvPr/>
        </p:nvSpPr>
        <p:spPr>
          <a:xfrm>
            <a:off x="1524000" y="3333750"/>
            <a:ext cx="9525" cy="9525000"/>
          </a:xfrm>
          <a:custGeom>
            <a:avLst/>
            <a:gdLst/>
            <a:ahLst/>
            <a:cxnLst/>
            <a:rect l="l" t="t" r="r" b="b"/>
            <a:pathLst>
              <a:path w="9525" h="9525000">
                <a:moveTo>
                  <a:pt x="0" y="0"/>
                </a:moveTo>
                <a:lnTo>
                  <a:pt x="0" y="952500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390650" y="386715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462554" y="39281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A1A1A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69770" y="3646170"/>
            <a:ext cx="20772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选择活动类别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83105" y="4092892"/>
            <a:ext cx="2266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SELECT ACTIVITY CATEGORY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81200" y="4410075"/>
            <a:ext cx="3238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从预设分类中选择，或自定义新类别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81200" y="4695825"/>
            <a:ext cx="29584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工作 · 学习 · 娱乐 · 休息 · 其他</a:t>
            </a:r>
          </a:p>
        </p:txBody>
      </p:sp>
      <p:sp>
        <p:nvSpPr>
          <p:cNvPr id="17" name="Ellipse 17"/>
          <p:cNvSpPr/>
          <p:nvPr/>
        </p:nvSpPr>
        <p:spPr>
          <a:xfrm>
            <a:off x="1390650" y="596265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462554" y="60236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A1A1A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69770" y="5741670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点击开始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83105" y="61883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TAP TO START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81200" y="6505575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一键启动计时器，秒级精度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81200" y="6791325"/>
            <a:ext cx="286845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页面加载 &lt; 2 秒 · 计时精度秒级</a:t>
            </a:r>
          </a:p>
        </p:txBody>
      </p:sp>
      <p:sp>
        <p:nvSpPr>
          <p:cNvPr id="23" name="Ellipse 23"/>
          <p:cNvSpPr/>
          <p:nvPr/>
        </p:nvSpPr>
        <p:spPr>
          <a:xfrm>
            <a:off x="1390650" y="805815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462554" y="81191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A1A1A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69770" y="7837170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专注工作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83105" y="8283892"/>
            <a:ext cx="18615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FOCUS ON YOUR WORK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81200" y="8601075"/>
            <a:ext cx="322849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App 在后台默默记录，无需额外操作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81200" y="8886825"/>
            <a:ext cx="32985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支持暂停 / 继续 · 今日汇总实时可见</a:t>
            </a:r>
          </a:p>
        </p:txBody>
      </p:sp>
      <p:sp>
        <p:nvSpPr>
          <p:cNvPr id="29" name="Ellipse 29"/>
          <p:cNvSpPr/>
          <p:nvPr/>
        </p:nvSpPr>
        <p:spPr>
          <a:xfrm>
            <a:off x="1390650" y="1015365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251D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462554" y="102146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D9251D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69770" y="9932670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D9251D"/>
                </a:solidFill>
                <a:latin typeface="Arial Black"/>
                <a:ea typeface="Microsoft YaHei"/>
                <a:cs typeface="Arial Black"/>
              </a:rPr>
              <a:t>点击结束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83105" y="10379392"/>
            <a:ext cx="11054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TAP TO STOP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81200" y="10696575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一键结束，数据自动保存到本地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81200" y="10982325"/>
            <a:ext cx="26684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记录自动归类 · 统计实时更新</a:t>
            </a:r>
          </a:p>
        </p:txBody>
      </p:sp>
      <p:sp>
        <p:nvSpPr>
          <p:cNvPr id="35" name="Line 35"/>
          <p:cNvSpPr/>
          <p:nvPr/>
        </p:nvSpPr>
        <p:spPr>
          <a:xfrm>
            <a:off x="952500" y="121920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952500" y="12477750"/>
            <a:ext cx="4476750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123950" y="1264920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传统方式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5855" y="12998768"/>
            <a:ext cx="37427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打开飞书 → 找到文档 → 编辑 → 输入时间 → 保存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25855" y="13189268"/>
            <a:ext cx="7273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9251D"/>
                </a:solidFill>
                <a:latin typeface="Arial"/>
                <a:ea typeface="Microsoft YaHei"/>
                <a:cs typeface="Arial"/>
              </a:rPr>
              <a:t>6 步操作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871210" y="12643485"/>
            <a:ext cx="27650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A1A1A"/>
                </a:solidFill>
                <a:latin typeface="Arial Black"/>
                <a:ea typeface="Arial Black"/>
                <a:cs typeface="Arial Black"/>
              </a:rPr>
              <a:t>→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400800" y="12477750"/>
            <a:ext cx="4476750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6572250" y="12649200"/>
            <a:ext cx="11092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A1A1A"/>
                </a:solidFill>
                <a:latin typeface="Arial Black"/>
                <a:ea typeface="Arial Black"/>
                <a:cs typeface="Arial Black"/>
              </a:rPr>
              <a:t>TimeQuest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74155" y="12998768"/>
            <a:ext cx="22395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打开 App → 点开始 → 点结束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74155" y="13189268"/>
            <a:ext cx="7273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9251D"/>
                </a:solidFill>
                <a:latin typeface="Arial"/>
                <a:ea typeface="Microsoft YaHei"/>
                <a:cs typeface="Arial"/>
              </a:rPr>
              <a:t>2 步操作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326243" y="153009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39165" y="6486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P · 05 · CONCEPT</a:t>
            </a:r>
          </a:p>
        </p:txBody>
      </p:sp>
      <p:sp>
        <p:nvSpPr>
          <p:cNvPr id="4" name="Rectangle 4"/>
          <p:cNvSpPr/>
          <p:nvPr/>
        </p:nvSpPr>
        <p:spPr>
          <a:xfrm>
            <a:off x="952500" y="1524000"/>
            <a:ext cx="9925050" cy="342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43000" y="1619250"/>
            <a:ext cx="1536144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0" b="1" dirty="0">
                <a:solidFill>
                  <a:srgbClr val="E8E8E8"/>
                </a:solidFill>
                <a:latin typeface="Arial Black"/>
                <a:ea typeface="Arial Black"/>
                <a:cs typeface="Arial Black"/>
              </a:rPr>
              <a:t>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09850" y="2181225"/>
            <a:ext cx="263461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时间负债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40330" y="3011805"/>
            <a:ext cx="142061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D9251D"/>
                </a:solidFill>
                <a:latin typeface="Arial Black"/>
                <a:ea typeface="Arial Black"/>
                <a:cs typeface="Arial Black"/>
              </a:rPr>
              <a:t>TIME DEBT</a:t>
            </a:r>
          </a:p>
        </p:txBody>
      </p:sp>
      <p:sp>
        <p:nvSpPr>
          <p:cNvPr id="8" name="Line 8"/>
          <p:cNvSpPr/>
          <p:nvPr/>
        </p:nvSpPr>
        <p:spPr>
          <a:xfrm>
            <a:off x="2667000" y="3524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28575">
            <a:solidFill>
              <a:srgbClr val="D9251D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644140" y="3806190"/>
            <a:ext cx="36461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指人们因为拖延、低效、琐事干扰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44140" y="4187190"/>
            <a:ext cx="24460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而产生的隐性时间损失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4500" y="3143250"/>
            <a:ext cx="1536144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0" b="1" dirty="0">
                <a:solidFill>
                  <a:srgbClr val="E8E8E8"/>
                </a:solidFill>
                <a:latin typeface="Arial Black"/>
                <a:ea typeface="Arial Black"/>
                <a:cs typeface="Arial Black"/>
              </a:rPr>
              <a:t>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5581650"/>
            <a:ext cx="175641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核心指标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5355" y="6140768"/>
            <a:ext cx="1618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THREE KEY METRICS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52500" y="6953250"/>
            <a:ext cx="295275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952500" y="6953250"/>
            <a:ext cx="2952750" cy="571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2085975" y="7372350"/>
            <a:ext cx="685800" cy="685800"/>
          </a:xfrm>
          <a:prstGeom prst="ellipse">
            <a:avLst/>
          </a:prstGeom>
          <a:noFill/>
          <a:ln w="19050">
            <a:solidFill>
              <a:srgbClr val="1A1A1A"/>
            </a:solidFill>
          </a:ln>
        </p:spPr>
      </p:sp>
      <p:sp>
        <p:nvSpPr>
          <p:cNvPr id="17" name="Line 17"/>
          <p:cNvSpPr/>
          <p:nvPr/>
        </p:nvSpPr>
        <p:spPr>
          <a:xfrm>
            <a:off x="2428875" y="7467600"/>
            <a:ext cx="9525" cy="247650"/>
          </a:xfrm>
          <a:custGeom>
            <a:avLst/>
            <a:gdLst/>
            <a:ahLst/>
            <a:cxnLst/>
            <a:rect l="l" t="t" r="r" b="b"/>
            <a:pathLst>
              <a:path w="952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A1A1A"/>
            </a:solidFill>
          </a:ln>
        </p:spPr>
      </p:sp>
      <p:sp>
        <p:nvSpPr>
          <p:cNvPr id="18" name="Line 18"/>
          <p:cNvSpPr/>
          <p:nvPr/>
        </p:nvSpPr>
        <p:spPr>
          <a:xfrm>
            <a:off x="2428875" y="771525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0" y="0"/>
                </a:moveTo>
                <a:lnTo>
                  <a:pt x="190500" y="95250"/>
                </a:lnTo>
              </a:path>
            </a:pathLst>
          </a:custGeom>
          <a:noFill/>
          <a:ln w="19050">
            <a:solidFill>
              <a:srgbClr val="1A1A1A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2381250" y="7667625"/>
            <a:ext cx="95250" cy="9525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901952" y="82829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有效时间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62471" y="8649652"/>
            <a:ext cx="11328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PRODUCTIVE TIME</a:t>
            </a:r>
          </a:p>
        </p:txBody>
      </p:sp>
      <p:sp>
        <p:nvSpPr>
          <p:cNvPr id="22" name="Line 22"/>
          <p:cNvSpPr/>
          <p:nvPr/>
        </p:nvSpPr>
        <p:spPr>
          <a:xfrm>
            <a:off x="1428750" y="9048750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709738" y="9267825"/>
            <a:ext cx="1438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真正创造价值的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09750" y="955357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深度工作时间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09750" y="983932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专注不被打断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438650" y="6953250"/>
            <a:ext cx="295275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438650" y="6953250"/>
            <a:ext cx="2952750" cy="571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8" name="Polygon 28"/>
          <p:cNvSpPr/>
          <p:nvPr/>
        </p:nvSpPr>
        <p:spPr>
          <a:xfrm>
            <a:off x="5572125" y="7429500"/>
            <a:ext cx="685800" cy="571500"/>
          </a:xfrm>
          <a:custGeom>
            <a:avLst/>
            <a:gdLst/>
            <a:ahLst/>
            <a:cxnLst/>
            <a:rect l="l" t="t" r="r" b="b"/>
            <a:pathLst>
              <a:path w="685800" h="571500">
                <a:moveTo>
                  <a:pt x="342900" y="0"/>
                </a:moveTo>
                <a:lnTo>
                  <a:pt x="685800" y="571500"/>
                </a:lnTo>
                <a:lnTo>
                  <a:pt x="0" y="571500"/>
                </a:lnTo>
                <a:close/>
              </a:path>
            </a:pathLst>
          </a:custGeom>
          <a:noFill/>
          <a:ln w="19050">
            <a:solidFill>
              <a:srgbClr val="D9251D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854360" y="7692390"/>
            <a:ext cx="12132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D9251D"/>
                </a:solidFill>
                <a:latin typeface="Arial Black"/>
                <a:ea typeface="Arial Black"/>
                <a:cs typeface="Arial Black"/>
              </a:rPr>
              <a:t>!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88102" y="82829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D9251D"/>
                </a:solidFill>
                <a:latin typeface="Arial Black"/>
                <a:ea typeface="Microsoft YaHei"/>
                <a:cs typeface="Arial Black"/>
              </a:rPr>
              <a:t>无效时间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485138" y="8649652"/>
            <a:ext cx="8597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WASTED TIME</a:t>
            </a:r>
          </a:p>
        </p:txBody>
      </p:sp>
      <p:sp>
        <p:nvSpPr>
          <p:cNvPr id="32" name="Line 32"/>
          <p:cNvSpPr/>
          <p:nvPr/>
        </p:nvSpPr>
        <p:spPr>
          <a:xfrm>
            <a:off x="4914900" y="9048750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295900" y="926782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刷手机、发呆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95900" y="955357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频繁切换任务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495925" y="983932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低效会议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924800" y="6953250"/>
            <a:ext cx="295275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7924800" y="6953250"/>
            <a:ext cx="2952750" cy="571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166431" y="7517130"/>
            <a:ext cx="469487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600" b="1" dirty="0">
                <a:solidFill>
                  <a:srgbClr val="1A1A1A"/>
                </a:solidFill>
                <a:latin typeface="Arial Black"/>
                <a:ea typeface="Arial Black"/>
                <a:cs typeface="Arial Black"/>
              </a:rPr>
              <a:t>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000268" y="8282940"/>
            <a:ext cx="8018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负债率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23794" y="8649652"/>
            <a:ext cx="7547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DEBT RATIO</a:t>
            </a:r>
          </a:p>
        </p:txBody>
      </p:sp>
      <p:sp>
        <p:nvSpPr>
          <p:cNvPr id="41" name="Line 41"/>
          <p:cNvSpPr/>
          <p:nvPr/>
        </p:nvSpPr>
        <p:spPr>
          <a:xfrm>
            <a:off x="8401050" y="9048750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567023" y="9267825"/>
            <a:ext cx="16683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无效时间 / 总时长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582025" y="955357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量化你的时间效率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82075" y="983932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越低越好</a:t>
            </a:r>
          </a:p>
        </p:txBody>
      </p:sp>
      <p:sp>
        <p:nvSpPr>
          <p:cNvPr id="45" name="Line 45"/>
          <p:cNvSpPr/>
          <p:nvPr/>
        </p:nvSpPr>
        <p:spPr>
          <a:xfrm>
            <a:off x="952500" y="1114425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423428" y="11519535"/>
            <a:ext cx="49831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每一分钟，都值得被认真对待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895130" y="12141518"/>
            <a:ext cx="40397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EVERY MINUTE DESERVES TO BE TAKEN SERIOUSLY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905000" y="13144500"/>
            <a:ext cx="8020050" cy="857250"/>
          </a:xfrm>
          <a:prstGeom prst="rect">
            <a:avLst/>
          </a:prstGeom>
          <a:solidFill>
            <a:srgbClr val="F4F4F4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580936" y="133159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技术栈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832122" y="13665518"/>
            <a:ext cx="41658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Vue 3 · TypeScript · Vite · Pinia · Vant · UniApp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326243" y="153009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952500" y="19050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4" name="Line 4"/>
          <p:cNvSpPr/>
          <p:nvPr/>
        </p:nvSpPr>
        <p:spPr>
          <a:xfrm>
            <a:off x="952500" y="38100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5" name="Line 5"/>
          <p:cNvSpPr/>
          <p:nvPr/>
        </p:nvSpPr>
        <p:spPr>
          <a:xfrm>
            <a:off x="952500" y="57150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6" name="Line 6"/>
          <p:cNvSpPr/>
          <p:nvPr/>
        </p:nvSpPr>
        <p:spPr>
          <a:xfrm>
            <a:off x="952500" y="76200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7" name="Line 7"/>
          <p:cNvSpPr/>
          <p:nvPr/>
        </p:nvSpPr>
        <p:spPr>
          <a:xfrm>
            <a:off x="952500" y="95250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8" name="Line 8"/>
          <p:cNvSpPr/>
          <p:nvPr/>
        </p:nvSpPr>
        <p:spPr>
          <a:xfrm>
            <a:off x="952500" y="114300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9" name="Line 9"/>
          <p:cNvSpPr/>
          <p:nvPr/>
        </p:nvSpPr>
        <p:spPr>
          <a:xfrm>
            <a:off x="952500" y="133350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39165" y="648652"/>
            <a:ext cx="11118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P · 06 · CLOSING</a:t>
            </a:r>
          </a:p>
        </p:txBody>
      </p:sp>
      <p:sp>
        <p:nvSpPr>
          <p:cNvPr id="11" name="Line 11"/>
          <p:cNvSpPr/>
          <p:nvPr/>
        </p:nvSpPr>
        <p:spPr>
          <a:xfrm>
            <a:off x="952500" y="8953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9525">
            <a:solidFill>
              <a:srgbClr val="1A1A1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66775" y="6129338"/>
            <a:ext cx="3951923" cy="1371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开始追踪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6775" y="7177088"/>
            <a:ext cx="5842159" cy="1371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0" b="1" dirty="0">
                <a:solidFill>
                  <a:srgbClr val="D9251D"/>
                </a:solidFill>
                <a:latin typeface="Arial Black"/>
                <a:ea typeface="Microsoft YaHei"/>
                <a:cs typeface="Arial Black"/>
              </a:rPr>
              <a:t>你的每一分钟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7735" y="8457248"/>
            <a:ext cx="557847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1A1A1A"/>
                </a:solidFill>
                <a:latin typeface="Arial Black"/>
                <a:ea typeface="Arial Black"/>
                <a:cs typeface="Arial Black"/>
              </a:rPr>
              <a:t>Start tracking every minute of your life.</a:t>
            </a:r>
          </a:p>
        </p:txBody>
      </p:sp>
      <p:sp>
        <p:nvSpPr>
          <p:cNvPr id="15" name="Line 15"/>
          <p:cNvSpPr/>
          <p:nvPr/>
        </p:nvSpPr>
        <p:spPr>
          <a:xfrm>
            <a:off x="952500" y="923925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38100">
            <a:solidFill>
              <a:srgbClr val="D9251D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223010" y="9347835"/>
            <a:ext cx="26788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TIMEQUEST · TIME MANAGEMENT APP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4915" y="9649778"/>
            <a:ext cx="22949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Vue 3 + TypeScript + Vite + UniApp</a:t>
            </a:r>
          </a:p>
        </p:txBody>
      </p:sp>
      <p:sp>
        <p:nvSpPr>
          <p:cNvPr id="18" name="Line 18"/>
          <p:cNvSpPr/>
          <p:nvPr/>
        </p:nvSpPr>
        <p:spPr>
          <a:xfrm>
            <a:off x="952500" y="10477500"/>
            <a:ext cx="9925050" cy="9525"/>
          </a:xfrm>
          <a:custGeom>
            <a:avLst/>
            <a:gdLst/>
            <a:ahLst/>
            <a:cxnLst/>
            <a:rect l="l" t="t" r="r" b="b"/>
            <a:pathLst>
              <a:path w="9925050" h="9525">
                <a:moveTo>
                  <a:pt x="0" y="0"/>
                </a:moveTo>
                <a:lnTo>
                  <a:pt x="9925050" y="0"/>
                </a:lnTo>
              </a:path>
            </a:pathLst>
          </a:custGeom>
          <a:noFill/>
          <a:ln w="9525">
            <a:solidFill>
              <a:srgbClr val="E8E8E8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952500" y="10858500"/>
            <a:ext cx="9925050" cy="1143000"/>
          </a:xfrm>
          <a:prstGeom prst="rect">
            <a:avLst/>
          </a:prstGeom>
          <a:solidFill>
            <a:srgbClr val="F4F4F4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316355" y="11141392"/>
            <a:ext cx="2167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GitHub: @codinglawrence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6355" y="11427142"/>
            <a:ext cx="11234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License: MIT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0355" y="11141392"/>
            <a:ext cx="19785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iOS 12+ · Android 8.0+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0355" y="11427142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微信小程序（适配中）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26243" y="153009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— END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2026-06-30T14:29:26Z</dcterms:created>
  <dcterms:modified xsi:type="dcterms:W3CDTF">2026-06-30T14:29:26Z</dcterms:modified>
  <cp:category/>
  <cp:contentStatus/>
</cp:coreProperties>
</file>