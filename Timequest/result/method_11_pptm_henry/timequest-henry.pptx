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1830050" cy="15811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952500" y="1143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4" name="Line 4"/>
          <p:cNvSpPr/>
          <p:nvPr/>
        </p:nvSpPr>
        <p:spPr>
          <a:xfrm>
            <a:off x="952500" y="12192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B4643C"/>
            </a:solidFill>
          </a:ln>
        </p:spPr>
      </p:sp>
      <p:sp>
        <p:nvSpPr>
          <p:cNvPr id="5" name="Line 5"/>
          <p:cNvSpPr/>
          <p:nvPr/>
        </p:nvSpPr>
        <p:spPr>
          <a:xfrm>
            <a:off x="952500" y="146685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B4643C"/>
            </a:solidFill>
          </a:ln>
        </p:spPr>
      </p:sp>
      <p:sp>
        <p:nvSpPr>
          <p:cNvPr id="6" name="Line 6"/>
          <p:cNvSpPr/>
          <p:nvPr/>
        </p:nvSpPr>
        <p:spPr>
          <a:xfrm>
            <a:off x="952500" y="147447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7" name="Line 7"/>
          <p:cNvSpPr/>
          <p:nvPr/>
        </p:nvSpPr>
        <p:spPr>
          <a:xfrm>
            <a:off x="952500" y="1143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8" name="Line 8"/>
          <p:cNvSpPr/>
          <p:nvPr/>
        </p:nvSpPr>
        <p:spPr>
          <a:xfrm>
            <a:off x="952500" y="1143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9" name="Line 9"/>
          <p:cNvSpPr/>
          <p:nvPr/>
        </p:nvSpPr>
        <p:spPr>
          <a:xfrm>
            <a:off x="10877550" y="1143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0" name="Line 10"/>
          <p:cNvSpPr/>
          <p:nvPr/>
        </p:nvSpPr>
        <p:spPr>
          <a:xfrm>
            <a:off x="10306050" y="1143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1" name="Line 11"/>
          <p:cNvSpPr/>
          <p:nvPr/>
        </p:nvSpPr>
        <p:spPr>
          <a:xfrm>
            <a:off x="952500" y="141732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2" name="Line 12"/>
          <p:cNvSpPr/>
          <p:nvPr/>
        </p:nvSpPr>
        <p:spPr>
          <a:xfrm>
            <a:off x="952500" y="147447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3" name="Line 13"/>
          <p:cNvSpPr/>
          <p:nvPr/>
        </p:nvSpPr>
        <p:spPr>
          <a:xfrm>
            <a:off x="10877550" y="141732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4" name="Line 14"/>
          <p:cNvSpPr/>
          <p:nvPr/>
        </p:nvSpPr>
        <p:spPr>
          <a:xfrm>
            <a:off x="10306050" y="147447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569381" y="6000750"/>
            <a:ext cx="2691289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0" b="1" dirty="0">
                <a:solidFill>
                  <a:srgbClr val="C4B8A8">
                    <a:alphaMod val="30000"/>
                  </a:srgbClr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70764" y="3854768"/>
            <a:ext cx="18885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TIME MANAGEMENT APP</a:t>
            </a:r>
          </a:p>
        </p:txBody>
      </p:sp>
      <p:sp>
        <p:nvSpPr>
          <p:cNvPr id="17" name="Line 17"/>
          <p:cNvSpPr/>
          <p:nvPr/>
        </p:nvSpPr>
        <p:spPr>
          <a:xfrm>
            <a:off x="4962525" y="4286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B4643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587323" y="5219700"/>
            <a:ext cx="665540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0" b="1" dirty="0">
                <a:solidFill>
                  <a:srgbClr val="2C1810"/>
                </a:solidFill>
                <a:latin typeface="Times New Roman"/>
                <a:ea typeface="Times New Roman"/>
                <a:cs typeface="Times New Roman"/>
              </a:rPr>
              <a:t>TIMEQUEST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0555" y="6757035"/>
            <a:ext cx="294894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4643C"/>
                </a:solidFill>
                <a:latin typeface="Segoe UI"/>
                <a:ea typeface="Microsoft YaHei"/>
                <a:cs typeface="Segoe UI"/>
              </a:rPr>
              <a:t>时间负债管理工具</a:t>
            </a:r>
          </a:p>
        </p:txBody>
      </p:sp>
      <p:sp>
        <p:nvSpPr>
          <p:cNvPr id="20" name="Line 20"/>
          <p:cNvSpPr/>
          <p:nvPr/>
        </p:nvSpPr>
        <p:spPr>
          <a:xfrm>
            <a:off x="4581525" y="74295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rgbClr val="D4C8B4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17993" y="7901940"/>
            <a:ext cx="27940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追踪 · 分类 · 分析 · 优化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95762" y="8410575"/>
            <a:ext cx="34385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C4B8A8"/>
                </a:solidFill>
                <a:latin typeface="Segoe UI"/>
                <a:ea typeface="Microsoft YaHei"/>
                <a:cs typeface="Segoe UI"/>
              </a:rPr>
              <a:t>基于时间负债概念的量化时间资产管理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33160" y="12236768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&lt;2s 启动速度</a:t>
            </a:r>
            <a:r>
              <a:rPr lang="en-US" sz="1350" dirty="0">
                <a:solidFill>
                  <a:srgbClr val="8C7B6E"/>
                </a:solidFill>
                <a:latin typeface="Segoe UI"/>
                <a:ea typeface="Segoe UI"/>
                <a:cs typeface="Segoe UI"/>
              </a:rPr>
              <a:t xml:space="preserve"> </a:t>
            </a:r>
            <a:r>
              <a:rPr lang="en-US" sz="1350" dirty="0">
                <a:solidFill>
                  <a:srgbClr val="8C7B6E"/>
                </a:solidFill>
                <a:latin typeface="Segoe UI"/>
                <a:ea typeface="Segoe UI"/>
                <a:cs typeface="Segoe UI"/>
              </a:rPr>
              <a:t>·</a:t>
            </a:r>
            <a:r>
              <a:rPr lang="en-US" sz="1350" dirty="0">
                <a:solidFill>
                  <a:srgbClr val="8C7B6E"/>
                </a:solidFill>
                <a:latin typeface="Segoe UI"/>
                <a:ea typeface="Segoe UI"/>
                <a:cs typeface="Segoe UI"/>
              </a:rPr>
              <a:t xml:space="preserve"> 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1s 计时精度</a:t>
            </a:r>
            <a:r>
              <a:rPr lang="en-US" sz="1350" dirty="0">
                <a:solidFill>
                  <a:srgbClr val="8C7B6E"/>
                </a:solidFill>
                <a:latin typeface="Segoe UI"/>
                <a:ea typeface="Segoe UI"/>
                <a:cs typeface="Segoe UI"/>
              </a:rPr>
              <a:t xml:space="preserve"> </a:t>
            </a:r>
            <a:r>
              <a:rPr lang="en-US" sz="1350" dirty="0">
                <a:solidFill>
                  <a:srgbClr val="8C7B6E"/>
                </a:solidFill>
                <a:latin typeface="Segoe UI"/>
                <a:ea typeface="Segoe UI"/>
                <a:cs typeface="Segoe UI"/>
              </a:rPr>
              <a:t>·</a:t>
            </a:r>
            <a:r>
              <a:rPr lang="en-US" sz="1350" dirty="0">
                <a:solidFill>
                  <a:srgbClr val="8C7B6E"/>
                </a:solidFill>
                <a:latin typeface="Segoe UI"/>
                <a:ea typeface="Segoe UI"/>
                <a:cs typeface="Segoe UI"/>
              </a:rPr>
              <a:t xml:space="preserve"> 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MIT 开源协议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95156" y="15126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4B8A8"/>
                </a:solidFill>
                <a:latin typeface="DM Sans"/>
                <a:ea typeface="DM Sans"/>
                <a:cs typeface="DM Sans"/>
              </a:rPr>
              <a:t>01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569381" y="2190750"/>
            <a:ext cx="2691289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0" b="1" dirty="0">
                <a:solidFill>
                  <a:srgbClr val="C4B8A8">
                    <a:alphaMod val="25000"/>
                  </a:srgbClr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7260" y="1394460"/>
            <a:ext cx="910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PAIN POINTS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540" y="1958340"/>
            <a:ext cx="54985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你的时间</a:t>
            </a:r>
            <a:r>
              <a:rPr lang="zh-CN" sz="4800" b="1" dirty="0">
                <a:solidFill>
                  <a:srgbClr val="B4643C"/>
                </a:solidFill>
                <a:latin typeface="Times New Roman"/>
                <a:ea typeface="SimSun"/>
                <a:cs typeface="Times New Roman"/>
              </a:rPr>
              <a:t>去哪了</a:t>
            </a:r>
            <a:r>
              <a:rPr lang="zh-CN" sz="4800" b="1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？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2762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52500" y="3524250"/>
            <a:ext cx="4724400" cy="2476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314450" y="3838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时间感知偏差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355" y="4235768"/>
            <a:ext cx="2460308" cy="845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人对时间的感知误差高达 40%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你以为工作了 4 小时，实际有效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时间可能只有 2 小时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40429" y="5421630"/>
            <a:ext cx="130119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600" b="1" dirty="0">
                <a:solidFill>
                  <a:srgbClr val="B4643C"/>
                </a:solidFill>
                <a:latin typeface="DM Sans"/>
                <a:ea typeface="DM Sans"/>
                <a:cs typeface="DM Sans"/>
              </a:rPr>
              <a:t>±40%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53150" y="3524250"/>
            <a:ext cx="4724400" cy="2476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515100" y="3838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追踪门槛过高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7005" y="4235768"/>
            <a:ext cx="216027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传统时间管理需要 6 步才能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开始计时；TimeQuest 只需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2 步：打开 → 点击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11000" y="5421630"/>
            <a:ext cx="193127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3600" b="1" dirty="0">
                <a:solidFill>
                  <a:srgbClr val="B4643C"/>
                </a:solidFill>
                <a:latin typeface="DM Sans"/>
                <a:ea typeface="Microsoft YaHei"/>
                <a:cs typeface="DM Sans"/>
              </a:rPr>
              <a:t>6步→2步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6477000"/>
            <a:ext cx="4724400" cy="2476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314450" y="67913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时间去向不明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6355" y="7188518"/>
            <a:ext cx="2288858" cy="845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不知道时间花在哪里，就像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不知道钱花在哪里 — 没有数据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就无法优化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33928" y="8374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3600" b="1" dirty="0">
                <a:solidFill>
                  <a:srgbClr val="B4643C"/>
                </a:solidFill>
                <a:latin typeface="DM Sans"/>
                <a:ea typeface="Microsoft YaHei"/>
                <a:cs typeface="DM Sans"/>
              </a:rPr>
              <a:t>数据驱动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153150" y="6477000"/>
            <a:ext cx="4724400" cy="2476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515100" y="679132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无法偿还时间债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17005" y="7188518"/>
            <a:ext cx="2091690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拖延和低效积累的时间负债</a:t>
            </a:r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如果不追踪就永远无法偿还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34578" y="8374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3600" b="1" dirty="0">
                <a:solidFill>
                  <a:srgbClr val="8B4513"/>
                </a:solidFill>
                <a:latin typeface="DM Sans"/>
                <a:ea typeface="Microsoft YaHei"/>
                <a:cs typeface="DM Sans"/>
              </a:rPr>
              <a:t>时间债务</a:t>
            </a:r>
          </a:p>
        </p:txBody>
      </p:sp>
      <p:sp>
        <p:nvSpPr>
          <p:cNvPr id="23" name="Line 23"/>
          <p:cNvSpPr/>
          <p:nvPr/>
        </p:nvSpPr>
        <p:spPr>
          <a:xfrm>
            <a:off x="952500" y="9525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D4C8B4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788092" y="10250805"/>
            <a:ext cx="42538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i="1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每一分钟的浪费，都是未来的负债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01280" y="10808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4B8A8"/>
                </a:solidFill>
                <a:latin typeface="Segoe UI"/>
                <a:ea typeface="Microsoft YaHei"/>
                <a:cs typeface="Segoe UI"/>
              </a:rPr>
              <a:t>— 时间负债核心概念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95156" y="15126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4B8A8"/>
                </a:solidFill>
                <a:latin typeface="DM Sans"/>
                <a:ea typeface="DM Sans"/>
                <a:cs typeface="DM Sans"/>
              </a:rPr>
              <a:t>02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569381" y="2667000"/>
            <a:ext cx="2691289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0" b="1" dirty="0">
                <a:solidFill>
                  <a:srgbClr val="C4B8A8">
                    <a:alphaMod val="20000"/>
                  </a:srgbClr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7260" y="1394460"/>
            <a:ext cx="11666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CORE FEATURES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540" y="1958340"/>
            <a:ext cx="415442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五大</a:t>
            </a:r>
            <a:r>
              <a:rPr lang="zh-CN" sz="4800" b="1" dirty="0">
                <a:solidFill>
                  <a:srgbClr val="B4643C"/>
                </a:solidFill>
                <a:latin typeface="Times New Roman"/>
                <a:ea typeface="SimSun"/>
                <a:cs typeface="Times New Roman"/>
              </a:rPr>
              <a:t>核心</a:t>
            </a:r>
            <a:r>
              <a:rPr lang="zh-CN" sz="4800" b="1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功能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276225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52500" y="3524250"/>
            <a:ext cx="9925050" cy="1714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497330" y="39166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B4643C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64080" y="391668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实时追踪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71700" y="4410075"/>
            <a:ext cx="6638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一键开始计时，精确到秒，后台持续运行不中断。让追踪像呼吸一样自然。</a:t>
            </a:r>
          </a:p>
        </p:txBody>
      </p:sp>
      <p:sp>
        <p:nvSpPr>
          <p:cNvPr id="11" name="Ellipse 11"/>
          <p:cNvSpPr/>
          <p:nvPr/>
        </p:nvSpPr>
        <p:spPr>
          <a:xfrm>
            <a:off x="10458450" y="4343400"/>
            <a:ext cx="76200" cy="76200"/>
          </a:xfrm>
          <a:prstGeom prst="ellipse">
            <a:avLst/>
          </a:prstGeom>
          <a:solidFill>
            <a:srgbClr val="B4643C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952500" y="5524500"/>
            <a:ext cx="9925050" cy="1714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497330" y="59169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B4643C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64080" y="591693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分类管理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1700" y="6410325"/>
            <a:ext cx="589883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自定义时间类别，工作 / 学习 / 娱乐一目了然。你的时间你做主。</a:t>
            </a:r>
          </a:p>
        </p:txBody>
      </p:sp>
      <p:sp>
        <p:nvSpPr>
          <p:cNvPr id="16" name="Ellipse 16"/>
          <p:cNvSpPr/>
          <p:nvPr/>
        </p:nvSpPr>
        <p:spPr>
          <a:xfrm>
            <a:off x="10458450" y="6343650"/>
            <a:ext cx="76200" cy="76200"/>
          </a:xfrm>
          <a:prstGeom prst="ellipse">
            <a:avLst/>
          </a:prstGeom>
          <a:solidFill>
            <a:srgbClr val="B4643C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52500" y="7524750"/>
            <a:ext cx="9925050" cy="1714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497330" y="79171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B4643C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64080" y="791718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历史记录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71700" y="8410575"/>
            <a:ext cx="589883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按天 / 周 / 月回溯所有时间记录，支持搜索筛选。再也不会忘记。</a:t>
            </a:r>
          </a:p>
        </p:txBody>
      </p:sp>
      <p:sp>
        <p:nvSpPr>
          <p:cNvPr id="21" name="Ellipse 21"/>
          <p:cNvSpPr/>
          <p:nvPr/>
        </p:nvSpPr>
        <p:spPr>
          <a:xfrm>
            <a:off x="10458450" y="8343900"/>
            <a:ext cx="76200" cy="76200"/>
          </a:xfrm>
          <a:prstGeom prst="ellipse">
            <a:avLst/>
          </a:prstGeom>
          <a:solidFill>
            <a:srgbClr val="B4643C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952500" y="9525000"/>
            <a:ext cx="9925050" cy="1714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497330" y="99174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B4643C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64080" y="991743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统计分析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71700" y="10410825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可视化图表展示时间分布，发现隐藏的时间黑洞。数据不说谎。</a:t>
            </a:r>
          </a:p>
        </p:txBody>
      </p:sp>
      <p:sp>
        <p:nvSpPr>
          <p:cNvPr id="26" name="Ellipse 26"/>
          <p:cNvSpPr/>
          <p:nvPr/>
        </p:nvSpPr>
        <p:spPr>
          <a:xfrm>
            <a:off x="10458450" y="10344150"/>
            <a:ext cx="76200" cy="76200"/>
          </a:xfrm>
          <a:prstGeom prst="ellipse">
            <a:avLst/>
          </a:prstGeom>
          <a:solidFill>
            <a:srgbClr val="B4643C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952500" y="11525250"/>
            <a:ext cx="9925050" cy="17145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497330" y="119176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B4643C"/>
                </a:solidFill>
                <a:latin typeface="DM Sans"/>
                <a:ea typeface="DM Sans"/>
                <a:cs typeface="DM Sans"/>
              </a:rPr>
              <a:t>05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64080" y="1191768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1810"/>
                </a:solidFill>
                <a:latin typeface="Segoe UI"/>
                <a:ea typeface="Microsoft YaHei"/>
                <a:cs typeface="Segoe UI"/>
              </a:rPr>
              <a:t>负债分析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71700" y="12411075"/>
            <a:ext cx="62388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首创时间负债模型，量化你的时间浪费与效率。看见负债，才能偿还。</a:t>
            </a:r>
          </a:p>
        </p:txBody>
      </p:sp>
      <p:sp>
        <p:nvSpPr>
          <p:cNvPr id="31" name="Ellipse 31"/>
          <p:cNvSpPr/>
          <p:nvPr/>
        </p:nvSpPr>
        <p:spPr>
          <a:xfrm>
            <a:off x="10458450" y="12344400"/>
            <a:ext cx="76200" cy="7620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395156" y="15126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4B8A8"/>
                </a:solidFill>
                <a:latin typeface="DM Sans"/>
                <a:ea typeface="DM Sans"/>
                <a:cs typeface="DM Sans"/>
              </a:rPr>
              <a:t>03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569381" y="2667000"/>
            <a:ext cx="2691289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0" b="1" dirty="0">
                <a:solidFill>
                  <a:srgbClr val="C4B8A8">
                    <a:alphaMod val="20000"/>
                  </a:srgbClr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7260" y="1394460"/>
            <a:ext cx="11106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CORE CONCEPT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540" y="1958340"/>
            <a:ext cx="281025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时间负债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27622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31545" y="3250882"/>
            <a:ext cx="55425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每一分钟的浪费，都是未来的负债。量化你的时间资产。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4191000"/>
            <a:ext cx="4724400" cy="38100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952500" y="4191000"/>
            <a:ext cx="4724400" cy="57150"/>
          </a:xfrm>
          <a:prstGeom prst="rect">
            <a:avLst/>
          </a:prstGeom>
          <a:solidFill>
            <a:srgbClr val="8B9A6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358390" y="4686300"/>
            <a:ext cx="191262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000" dirty="0">
                <a:solidFill>
                  <a:srgbClr val="5C6B4C"/>
                </a:solidFill>
                <a:latin typeface="DM Sans"/>
                <a:ea typeface="DM Sans"/>
                <a:cs typeface="DM Sans"/>
              </a:rPr>
              <a:t>4.5h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11780" y="571119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有效时间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26030" y="6347460"/>
            <a:ext cx="1577340" cy="472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C4B8A8"/>
                </a:solidFill>
                <a:latin typeface="Segoe UI"/>
                <a:ea typeface="Microsoft YaHei"/>
                <a:cs typeface="Segoe UI"/>
              </a:rPr>
              <a:t>专注工作 · 深度学习</a:t>
            </a:r>
            <a:r>
              <a:rPr lang="zh-CN" sz="1200" dirty="0">
                <a:solidFill>
                  <a:srgbClr val="C4B8A8"/>
                </a:solidFill>
                <a:latin typeface="Segoe UI"/>
                <a:ea typeface="Microsoft YaHei"/>
                <a:cs typeface="Segoe UI"/>
              </a:rPr>
              <a:t>创造性产出 · 技能提升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60148" y="590169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D4C8B4"/>
                </a:solidFill>
                <a:latin typeface="DM Sans"/>
                <a:ea typeface="DM Sans"/>
                <a:cs typeface="DM Sans"/>
              </a:rPr>
              <a:t>VS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53150" y="4191000"/>
            <a:ext cx="4724400" cy="38100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153150" y="4191000"/>
            <a:ext cx="4724400" cy="57150"/>
          </a:xfrm>
          <a:prstGeom prst="rect">
            <a:avLst/>
          </a:prstGeom>
          <a:solidFill>
            <a:srgbClr val="C47A6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559040" y="4686300"/>
            <a:ext cx="191262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000" dirty="0">
                <a:solidFill>
                  <a:srgbClr val="8B4C3C"/>
                </a:solidFill>
                <a:latin typeface="DM Sans"/>
                <a:ea typeface="DM Sans"/>
                <a:cs typeface="DM Sans"/>
              </a:rPr>
              <a:t>3.5h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74413" y="5711190"/>
            <a:ext cx="12818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浪费 / 负债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79080" y="6347460"/>
            <a:ext cx="1272540" cy="472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C4B8A8"/>
                </a:solidFill>
                <a:latin typeface="Segoe UI"/>
                <a:ea typeface="Microsoft YaHei"/>
                <a:cs typeface="Segoe UI"/>
              </a:rPr>
              <a:t>拖延 · 切换成本</a:t>
            </a:r>
            <a:r>
              <a:rPr lang="zh-CN" sz="1200" dirty="0">
                <a:solidFill>
                  <a:srgbClr val="C4B8A8"/>
                </a:solidFill>
                <a:latin typeface="Segoe UI"/>
                <a:ea typeface="Microsoft YaHei"/>
                <a:cs typeface="Segoe UI"/>
              </a:rPr>
              <a:t>碎片化 · 无效社交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905000" y="8763000"/>
            <a:ext cx="8020050" cy="11430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669078" y="9012555"/>
            <a:ext cx="44918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负债率 = 浪费时长 / 总时长 × 100%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17745" y="947451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时间资产管理的第一性原理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4365" y="10980420"/>
            <a:ext cx="29413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i="1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看见负债，才能偿还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95156" y="15126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4B8A8"/>
                </a:solidFill>
                <a:latin typeface="DM Sans"/>
                <a:ea typeface="DM Sans"/>
                <a:cs typeface="DM Sans"/>
              </a:rPr>
              <a:t>04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952500" y="1143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4" name="Line 4"/>
          <p:cNvSpPr/>
          <p:nvPr/>
        </p:nvSpPr>
        <p:spPr>
          <a:xfrm>
            <a:off x="952500" y="12192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B4643C"/>
            </a:solidFill>
          </a:ln>
        </p:spPr>
      </p:sp>
      <p:sp>
        <p:nvSpPr>
          <p:cNvPr id="5" name="Line 5"/>
          <p:cNvSpPr/>
          <p:nvPr/>
        </p:nvSpPr>
        <p:spPr>
          <a:xfrm>
            <a:off x="952500" y="146685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B4643C"/>
            </a:solidFill>
          </a:ln>
        </p:spPr>
      </p:sp>
      <p:sp>
        <p:nvSpPr>
          <p:cNvPr id="6" name="Line 6"/>
          <p:cNvSpPr/>
          <p:nvPr/>
        </p:nvSpPr>
        <p:spPr>
          <a:xfrm>
            <a:off x="952500" y="147447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7" name="Line 7"/>
          <p:cNvSpPr/>
          <p:nvPr/>
        </p:nvSpPr>
        <p:spPr>
          <a:xfrm>
            <a:off x="952500" y="1143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8" name="Line 8"/>
          <p:cNvSpPr/>
          <p:nvPr/>
        </p:nvSpPr>
        <p:spPr>
          <a:xfrm>
            <a:off x="952500" y="1143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9" name="Line 9"/>
          <p:cNvSpPr/>
          <p:nvPr/>
        </p:nvSpPr>
        <p:spPr>
          <a:xfrm>
            <a:off x="10877550" y="1143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0" name="Line 10"/>
          <p:cNvSpPr/>
          <p:nvPr/>
        </p:nvSpPr>
        <p:spPr>
          <a:xfrm>
            <a:off x="10306050" y="1143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1" name="Line 11"/>
          <p:cNvSpPr/>
          <p:nvPr/>
        </p:nvSpPr>
        <p:spPr>
          <a:xfrm>
            <a:off x="952500" y="141732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2" name="Line 12"/>
          <p:cNvSpPr/>
          <p:nvPr/>
        </p:nvSpPr>
        <p:spPr>
          <a:xfrm>
            <a:off x="952500" y="147447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3" name="Line 13"/>
          <p:cNvSpPr/>
          <p:nvPr/>
        </p:nvSpPr>
        <p:spPr>
          <a:xfrm>
            <a:off x="10877550" y="141732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4" name="Line 14"/>
          <p:cNvSpPr/>
          <p:nvPr/>
        </p:nvSpPr>
        <p:spPr>
          <a:xfrm>
            <a:off x="10306050" y="147447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643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569381" y="5524500"/>
            <a:ext cx="2691289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0" b="1" dirty="0">
                <a:solidFill>
                  <a:srgbClr val="C4B8A8">
                    <a:alphaMod val="25000"/>
                  </a:srgbClr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75815" y="3854768"/>
            <a:ext cx="10784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GET STARTED</a:t>
            </a:r>
          </a:p>
        </p:txBody>
      </p:sp>
      <p:sp>
        <p:nvSpPr>
          <p:cNvPr id="17" name="Line 17"/>
          <p:cNvSpPr/>
          <p:nvPr/>
        </p:nvSpPr>
        <p:spPr>
          <a:xfrm>
            <a:off x="4962525" y="4286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B4643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822067" y="5513070"/>
            <a:ext cx="6185916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2C1810"/>
                </a:solidFill>
                <a:latin typeface="Times New Roman"/>
                <a:ea typeface="SimSun"/>
                <a:cs typeface="Times New Roman"/>
              </a:rPr>
              <a:t>开始追踪你的时间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486275" y="6858000"/>
            <a:ext cx="2857500" cy="571500"/>
          </a:xfrm>
          <a:prstGeom prst="rect">
            <a:avLst/>
          </a:prstGeom>
          <a:noFill/>
          <a:ln w="19050">
            <a:solidFill>
              <a:srgbClr val="B4643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495925" y="70580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B4643C"/>
                </a:solidFill>
                <a:latin typeface="Segoe UI"/>
                <a:ea typeface="Microsoft YaHei"/>
                <a:cs typeface="Segoe UI"/>
              </a:rPr>
              <a:t>即将上线</a:t>
            </a:r>
          </a:p>
        </p:txBody>
      </p:sp>
      <p:sp>
        <p:nvSpPr>
          <p:cNvPr id="21" name="Line 21"/>
          <p:cNvSpPr/>
          <p:nvPr/>
        </p:nvSpPr>
        <p:spPr>
          <a:xfrm>
            <a:off x="3333750" y="8191500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</a:path>
            </a:pathLst>
          </a:custGeom>
          <a:noFill/>
          <a:ln w="9525">
            <a:solidFill>
              <a:srgbClr val="D4C8B4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148138" y="8791575"/>
            <a:ext cx="353377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700"/>
              </a:lnSpc>
            </a:pPr>
            <a:r>
              <a:rPr lang="zh-CN" sz="15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 xml:space="preserve">开源协议 MIT · GitHub @codinglawrence </a:t>
            </a:r>
            <a:r>
              <a:rPr lang="zh-CN" sz="1500" dirty="0">
                <a:solidFill>
                  <a:srgbClr val="8C7B6E"/>
                </a:solidFill>
                <a:latin typeface="Segoe UI"/>
                <a:ea typeface="Microsoft YaHei"/>
                <a:cs typeface="Segoe UI"/>
              </a:rPr>
              <a:t>iOS 12+ · Android 8.0+ · 微信小程序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962275" y="9715500"/>
            <a:ext cx="1143000" cy="3810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345418" y="9849802"/>
            <a:ext cx="3767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Vue 3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95775" y="9715500"/>
            <a:ext cx="1333500" cy="3810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581644" y="98498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TypeScript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819775" y="9715500"/>
            <a:ext cx="1143000" cy="3810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164413" y="9849802"/>
            <a:ext cx="453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UniApp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153275" y="9715500"/>
            <a:ext cx="952500" cy="381000"/>
          </a:xfrm>
          <a:prstGeom prst="rect">
            <a:avLst/>
          </a:prstGeom>
          <a:noFill/>
          <a:ln w="9525">
            <a:solidFill>
              <a:srgbClr val="D4C8B4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479673" y="9849802"/>
            <a:ext cx="2997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C7B6E"/>
                </a:solidFill>
                <a:latin typeface="DM Sans"/>
                <a:ea typeface="DM Sans"/>
                <a:cs typeface="DM Sans"/>
              </a:rPr>
              <a:t>Vite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95156" y="15126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4B8A8"/>
                </a:solidFill>
                <a:latin typeface="DM Sans"/>
                <a:ea typeface="DM Sans"/>
                <a:cs typeface="DM Sans"/>
              </a:rPr>
              <a:t>05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2026-07-01T07:32:30Z</dcterms:created>
  <dcterms:modified xsi:type="dcterms:W3CDTF">2026-07-01T07:32:30Z</dcterms:modified>
  <cp:category/>
  <cp:contentStatus/>
</cp:coreProperties>
</file>